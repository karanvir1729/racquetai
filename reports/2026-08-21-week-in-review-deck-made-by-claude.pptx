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4F7F3"/>
                </a:solidFill>
                <a:latin typeface="Calibri"/>
              </a:defRPr>
            </a:pPr>
            <a:r>
              <a:rPr sz="1200" b="0" i="0" u="none" strike="noStrike">
                <a:solidFill>
                  <a:srgbClr val="F4F7F3"/>
                </a:solidFill>
                <a:latin typeface="Calibri"/>
              </a:rPr>
              <a:t>Before → after this week  (%)</a:t>
            </a:r>
          </a:p>
        </c:rich>
      </c:tx>
      <c:layout/>
      <c:overlay val="0"/>
    </c:title>
    <c:autoTitleDeleted val="0"/>
    <c:plotArea>
      <c:layout/>
      <c:barChart>
        <c:barDir val="col"/>
        <c:grouping val="clustered"/>
        <c:varyColors val="0"/>
        <c:ser>
          <c:idx val="0"/>
          <c:order val="0"/>
          <c:tx>
            <c:strRef>
              <c:f>Sheet1!$B$1</c:f>
              <c:strCache>
                <c:ptCount val="1"/>
                <c:pt idx="0">
                  <c:v>Before</c:v>
                </c:pt>
              </c:strCache>
            </c:strRef>
          </c:tx>
          <c:spPr>
            <a:solidFill>
              <a:srgbClr val="3E5648"/>
            </a:solidFill>
            <a:effectLst/>
          </c:spPr>
          <c:invertIfNegative val="0"/>
          <c:dLbls>
            <c:numFmt formatCode="0.0&quot;%&quot;" sourceLinked="0"/>
            <c:txPr>
              <a:bodyPr/>
              <a:lstStyle/>
              <a:p>
                <a:pPr>
                  <a:defRPr b="0" i="0" strike="noStrike" sz="1000" u="none">
                    <a:solidFill>
                      <a:srgbClr val="F4F7F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Player identity correct</c:v>
                  </c:pt>
                  <c:pt idx="1">
                    <c:v>Shot detection precision</c:v>
                  </c:pt>
                </c:lvl>
              </c:multiLvlStrCache>
            </c:multiLvlStrRef>
          </c:cat>
          <c:val>
            <c:numRef>
              <c:f>Sheet1!$B$2:$B$3</c:f>
              <c:numCache>
                <c:formatCode>General</c:formatCode>
                <c:ptCount val="2"/>
                <c:pt idx="0">
                  <c:v>53.6</c:v>
                </c:pt>
                <c:pt idx="1">
                  <c:v>41.1</c:v>
                </c:pt>
              </c:numCache>
            </c:numRef>
          </c:val>
        </c:ser>
        <c:ser>
          <c:idx val="1"/>
          <c:order val="1"/>
          <c:tx>
            <c:strRef>
              <c:f>Sheet1!$C$1</c:f>
              <c:strCache>
                <c:ptCount val="1"/>
                <c:pt idx="0">
                  <c:v>After</c:v>
                </c:pt>
              </c:strCache>
            </c:strRef>
          </c:tx>
          <c:spPr>
            <a:solidFill>
              <a:srgbClr val="7CBF3F"/>
            </a:solidFill>
            <a:effectLst/>
          </c:spPr>
          <c:invertIfNegative val="0"/>
          <c:dLbls>
            <c:numFmt formatCode="0.0&quot;%&quot;" sourceLinked="0"/>
            <c:txPr>
              <a:bodyPr/>
              <a:lstStyle/>
              <a:p>
                <a:pPr>
                  <a:defRPr b="0" i="0" strike="noStrike" sz="1000" u="none">
                    <a:solidFill>
                      <a:srgbClr val="F4F7F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Player identity correct</c:v>
                  </c:pt>
                  <c:pt idx="1">
                    <c:v>Shot detection precision</c:v>
                  </c:pt>
                </c:lvl>
              </c:multiLvlStrCache>
            </c:multiLvlStrRef>
          </c:cat>
          <c:val>
            <c:numRef>
              <c:f>Sheet1!$C$2:$C$3</c:f>
              <c:numCache>
                <c:formatCode>General</c:formatCode>
                <c:ptCount val="2"/>
                <c:pt idx="0">
                  <c:v>97.9</c:v>
                </c:pt>
                <c:pt idx="1">
                  <c:v>71</c:v>
                </c:pt>
              </c:numCache>
            </c:numRef>
          </c:val>
        </c:ser>
        <c:dLbls>
          <c:numFmt formatCode="0.0&quot;%&quot;" sourceLinked="0"/>
          <c:txPr>
            <a:bodyPr/>
            <a:lstStyle/>
            <a:p>
              <a:pPr>
                <a:defRPr b="0" i="0" strike="noStrike" sz="1000" u="none">
                  <a:solidFill>
                    <a:srgbClr val="F4F7F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50" b="0" i="0" u="none" strike="noStrike">
                <a:solidFill>
                  <a:srgbClr val="9FB3A6"/>
                </a:solidFill>
                <a:latin typeface="Calibri"/>
              </a:defRPr>
            </a:pPr>
            <a:endParaRPr lang="en-US"/>
          </a:p>
        </c:txPr>
        <c:crossAx val="2094734552"/>
        <c:crosses val="autoZero"/>
        <c:auto val="1"/>
        <c:lblAlgn val="ctr"/>
        <c:noMultiLvlLbl val="1"/>
      </c:catAx>
      <c:valAx>
        <c:axId val="2094734552"/>
        <c:scaling>
          <c:orientation val="minMax"/>
          <c:max val="1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C1F17"/>
        </a:solidFill>
        <a:ln>
          <a:noFill/>
        </a:ln>
        <a:effectLst/>
      </c:spPr>
    </c:plotArea>
    <c:legend>
      <c:legendPos val="t"/>
      <c:overlay val="0"/>
      <c:txPr>
        <a:bodyPr/>
        <a:lstStyle/>
        <a:p>
          <a:pPr>
            <a:defRPr sz="1000">
              <a:solidFill>
                <a:srgbClr val="9FB3A6"/>
              </a:solidFill>
              <a:latin typeface="Calibri"/>
              <a:cs typeface="Calibri"/>
            </a:defRPr>
          </a:pPr>
          <a:endParaRPr lang="en-US"/>
        </a:p>
      </c:txPr>
    </c:legend>
    <c:plotVisOnly val="1"/>
    <c:dispBlanksAs val="span"/>
  </c:chart>
  <c:spPr>
    <a:solidFill>
      <a:srgbClr val="0C1F17"/>
    </a:solidFill>
    <a:ln w="9525" cap="flat">
      <a:solidFill>
        <a:srgbClr val="1C3B2C"/>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of 15-21 Aug 2026. 89 commits, ~48K lines added across TypeScript, Python and Swift, 728 tests green. Three surfaces live: the web app at racketiq.tech, iOS v1.0.0 submitted for App Store review (expedited request in), and the analysis API behind TLS on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slide: daybot, the previous product, is an AI dropshipping storefront platform. Its iOS app went from empty folder to live on the App Store worldwide in about one week, through one rejection. 736 commits, ~86K lines, 118 API routes, Play submission prepared. Now deliberately paused - RacketIQ inherits its proven build/review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product surfaces: analysis, live referee, score keeper, video scoring, and the capture/account layer. The referee never scores silently - every rally end is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 identity: 46.4% -&gt; 2.1% mislabelled over 379 samples. Shot detection: 41.1% -&gt; 71.0% precision with recall unchanged at 86.4%. Rally-winner heuristic tops out at 72.7% (oracle), which is why the referee always asks. Ball tracking was killed by its own 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Expo/React clients sharing rule modules, a Swift on-device engine, a Python CPU vision service, and the Supabase/Stripe/Azure platform. The shared analysis.json schema v2 is the contract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in the room: zero paying users. What exists is the full distribution surface - live site, TestFlight build, waitlist, billing, admin metrics - plus two club conversations and a $50 willingness-to-pay signal from Milton.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v1.0.0 build 29 submitted for App Store review with an expedited-review request already in. The submission was verified from inside the IPA. One watch item: the generic photo-library purpose string (5.1.1 risk); the corrected build is ready for the Sep 1 quota 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is the differentiator: measure before building, allow a feature to fail its gate, keep one spec across two languages, and never let a rule exist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review, harden, prove, sharpen. The single hard external dependency is the EAS iOS build quota resetting on 1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30E"/>
        </a:solidFill>
      </p:bgPr>
    </p:bg>
    <p:spTree>
      <p:nvGrpSpPr>
        <p:cNvPr id="1" name=""/>
        <p:cNvGrpSpPr/>
        <p:nvPr/>
      </p:nvGrpSpPr>
      <p:grpSpPr>
        <a:xfrm>
          <a:off x="0" y="0"/>
          <a:ext cx="0" cy="0"/>
          <a:chOff x="0" y="0"/>
          <a:chExt cx="0" cy="0"/>
        </a:xfrm>
      </p:grpSpPr>
      <p:sp>
        <p:nvSpPr>
          <p:cNvPr id="2" name="Text 0"/>
          <p:cNvSpPr/>
          <p:nvPr/>
        </p:nvSpPr>
        <p:spPr>
          <a:xfrm>
            <a:off x="640080" y="960120"/>
            <a:ext cx="5486400" cy="219456"/>
          </a:xfrm>
          <a:prstGeom prst="rect">
            <a:avLst/>
          </a:prstGeom>
          <a:noFill/>
          <a:ln/>
        </p:spPr>
        <p:txBody>
          <a:bodyPr wrap="square" lIns="0" tIns="0" rIns="0" bIns="0" rtlCol="0" anchor="ctr"/>
          <a:lstStyle/>
          <a:p>
            <a:pPr indent="0" marL="0">
              <a:buNone/>
            </a:pPr>
            <a:r>
              <a:rPr lang="en-US" sz="1050" b="1" spc="200" kern="0" dirty="0">
                <a:solidFill>
                  <a:srgbClr val="A6D47D"/>
                </a:solidFill>
                <a:latin typeface="Calibri" pitchFamily="34" charset="0"/>
                <a:ea typeface="Calibri" pitchFamily="34" charset="-122"/>
                <a:cs typeface="Calibri" pitchFamily="34" charset="-120"/>
              </a:rPr>
              <a:t>WEEK IN REVIEW  ·  15 – 21 AUGUST 2026</a:t>
            </a:r>
            <a:endParaRPr lang="en-US" sz="1050" dirty="0"/>
          </a:p>
        </p:txBody>
      </p:sp>
      <p:sp>
        <p:nvSpPr>
          <p:cNvPr id="3" name="Text 1"/>
          <p:cNvSpPr/>
          <p:nvPr/>
        </p:nvSpPr>
        <p:spPr>
          <a:xfrm>
            <a:off x="640080" y="1188720"/>
            <a:ext cx="5486400" cy="914400"/>
          </a:xfrm>
          <a:prstGeom prst="rect">
            <a:avLst/>
          </a:prstGeom>
          <a:noFill/>
          <a:ln/>
        </p:spPr>
        <p:txBody>
          <a:bodyPr wrap="square" lIns="0" tIns="0" rIns="0" bIns="0" rtlCol="0" anchor="ctr"/>
          <a:lstStyle/>
          <a:p>
            <a:pPr indent="0" marL="0">
              <a:buNone/>
            </a:pPr>
            <a:r>
              <a:rPr lang="en-US" sz="5200" b="1" dirty="0">
                <a:solidFill>
                  <a:srgbClr val="F4F7F3"/>
                </a:solidFill>
                <a:latin typeface="Arial" pitchFamily="34" charset="0"/>
                <a:ea typeface="Arial" pitchFamily="34" charset="-122"/>
                <a:cs typeface="Arial" pitchFamily="34" charset="-120"/>
              </a:rPr>
              <a:t>Racket</a:t>
            </a:r>
            <a:pPr indent="0" marL="0">
              <a:buNone/>
            </a:pPr>
            <a:r>
              <a:rPr lang="en-US" sz="5200" b="1" dirty="0">
                <a:solidFill>
                  <a:srgbClr val="7CBF3F"/>
                </a:solidFill>
                <a:latin typeface="Arial" pitchFamily="34" charset="0"/>
                <a:ea typeface="Arial" pitchFamily="34" charset="-122"/>
                <a:cs typeface="Arial" pitchFamily="34" charset="-120"/>
              </a:rPr>
              <a:t>IQ</a:t>
            </a:r>
            <a:endParaRPr lang="en-US" sz="5200" dirty="0"/>
          </a:p>
        </p:txBody>
      </p:sp>
      <p:sp>
        <p:nvSpPr>
          <p:cNvPr id="4" name="Text 2"/>
          <p:cNvSpPr/>
          <p:nvPr/>
        </p:nvSpPr>
        <p:spPr>
          <a:xfrm>
            <a:off x="640080" y="2240280"/>
            <a:ext cx="5394960" cy="1234440"/>
          </a:xfrm>
          <a:prstGeom prst="rect">
            <a:avLst/>
          </a:prstGeom>
          <a:noFill/>
          <a:ln/>
        </p:spPr>
        <p:txBody>
          <a:bodyPr wrap="square" lIns="0" tIns="0" rIns="0" bIns="0" rtlCol="0" anchor="t"/>
          <a:lstStyle/>
          <a:p>
            <a:pPr indent="0" marL="0">
              <a:lnSpc>
                <a:spcPts val="2300"/>
              </a:lnSpc>
              <a:buNone/>
            </a:pPr>
            <a:r>
              <a:rPr lang="en-US" sz="1500" dirty="0">
                <a:solidFill>
                  <a:srgbClr val="9FB3A6"/>
                </a:solidFill>
                <a:latin typeface="Calibri" pitchFamily="34" charset="0"/>
                <a:ea typeface="Calibri" pitchFamily="34" charset="-122"/>
                <a:cs typeface="Calibri" pitchFamily="34" charset="-120"/>
              </a:rPr>
              <a:t>Seven days from a merged scaffold to a squash analysis product that is live on the web, submitted to Apple for review, and measured against hand-labelled ground truth rather than claimed.</a:t>
            </a:r>
            <a:endParaRPr lang="en-US" sz="1500" dirty="0"/>
          </a:p>
        </p:txBody>
      </p:sp>
      <p:sp>
        <p:nvSpPr>
          <p:cNvPr id="5" name="Shape 3"/>
          <p:cNvSpPr/>
          <p:nvPr/>
        </p:nvSpPr>
        <p:spPr>
          <a:xfrm>
            <a:off x="6309360" y="548640"/>
            <a:ext cx="5394960" cy="3657600"/>
          </a:xfrm>
          <a:prstGeom prst="roundRect">
            <a:avLst>
              <a:gd name="adj" fmla="val 2000"/>
            </a:avLst>
          </a:prstGeom>
          <a:solidFill>
            <a:srgbClr val="0C1F17"/>
          </a:solidFill>
          <a:ln w="9525">
            <a:solidFill>
              <a:srgbClr val="1C3B2C"/>
            </a:solidFill>
            <a:prstDash val="solid"/>
          </a:ln>
        </p:spPr>
      </p:sp>
      <p:pic>
        <p:nvPicPr>
          <p:cNvPr id="6" name="Image 0" descr="/Users/karanvirkhanna/RacquetAI/reports/screenshots/2026-08-21/01-apex-landing.png">    </p:cNvPr>
          <p:cNvPicPr>
            <a:picLocks noChangeAspect="1"/>
          </p:cNvPicPr>
          <p:nvPr/>
        </p:nvPicPr>
        <p:blipFill>
          <a:blip r:embed="rId1"/>
          <a:stretch>
            <a:fillRect/>
          </a:stretch>
        </p:blipFill>
        <p:spPr>
          <a:xfrm>
            <a:off x="6446520" y="685800"/>
            <a:ext cx="5120640" cy="3377794"/>
          </a:xfrm>
          <a:prstGeom prst="rect">
            <a:avLst/>
          </a:prstGeom>
        </p:spPr>
      </p:pic>
      <p:sp>
        <p:nvSpPr>
          <p:cNvPr id="7" name="Text 4"/>
          <p:cNvSpPr/>
          <p:nvPr/>
        </p:nvSpPr>
        <p:spPr>
          <a:xfrm>
            <a:off x="6309360" y="4261104"/>
            <a:ext cx="5394960" cy="274320"/>
          </a:xfrm>
          <a:prstGeom prst="rect">
            <a:avLst/>
          </a:prstGeom>
          <a:noFill/>
          <a:ln/>
        </p:spPr>
        <p:txBody>
          <a:bodyPr wrap="square" lIns="0" tIns="0" rIns="0" bIns="0" rtlCol="0" anchor="ctr"/>
          <a:lstStyle/>
          <a:p>
            <a:pPr indent="0" marL="0">
              <a:buNone/>
            </a:pPr>
            <a:r>
              <a:rPr lang="en-US" sz="950" i="1" dirty="0">
                <a:solidFill>
                  <a:srgbClr val="70857A"/>
                </a:solidFill>
                <a:latin typeface="Calibri" pitchFamily="34" charset="0"/>
                <a:ea typeface="Calibri" pitchFamily="34" charset="-122"/>
                <a:cs typeface="Calibri" pitchFamily="34" charset="-120"/>
              </a:rPr>
              <a:t>racketiq.tech — apex and www, both serving over TLS. Captured from the shipped bundle.</a:t>
            </a:r>
            <a:endParaRPr lang="en-US" sz="950" dirty="0"/>
          </a:p>
        </p:txBody>
      </p:sp>
      <p:sp>
        <p:nvSpPr>
          <p:cNvPr id="8" name="Shape 5"/>
          <p:cNvSpPr/>
          <p:nvPr/>
        </p:nvSpPr>
        <p:spPr>
          <a:xfrm>
            <a:off x="640080" y="4572000"/>
            <a:ext cx="2521458" cy="1234440"/>
          </a:xfrm>
          <a:prstGeom prst="roundRect">
            <a:avLst>
              <a:gd name="adj" fmla="val 5926"/>
            </a:avLst>
          </a:prstGeom>
          <a:solidFill>
            <a:srgbClr val="0C1F17"/>
          </a:solidFill>
          <a:ln w="9525">
            <a:solidFill>
              <a:srgbClr val="1C3B2C"/>
            </a:solidFill>
            <a:prstDash val="solid"/>
          </a:ln>
        </p:spPr>
      </p:sp>
      <p:sp>
        <p:nvSpPr>
          <p:cNvPr id="9" name="Text 6"/>
          <p:cNvSpPr/>
          <p:nvPr/>
        </p:nvSpPr>
        <p:spPr>
          <a:xfrm>
            <a:off x="868680" y="4718304"/>
            <a:ext cx="2064258" cy="548640"/>
          </a:xfrm>
          <a:prstGeom prst="rect">
            <a:avLst/>
          </a:prstGeom>
          <a:noFill/>
          <a:ln/>
        </p:spPr>
        <p:txBody>
          <a:bodyPr wrap="square" lIns="0" tIns="0" rIns="0" bIns="0" rtlCol="0" anchor="ctr"/>
          <a:lstStyle/>
          <a:p>
            <a:pPr indent="0" marL="0">
              <a:buNone/>
            </a:pPr>
            <a:r>
              <a:rPr lang="en-US" sz="3000" b="1" dirty="0">
                <a:solidFill>
                  <a:srgbClr val="7CBF3F"/>
                </a:solidFill>
                <a:latin typeface="Arial" pitchFamily="34" charset="0"/>
                <a:ea typeface="Arial" pitchFamily="34" charset="-122"/>
                <a:cs typeface="Arial" pitchFamily="34" charset="-120"/>
              </a:rPr>
              <a:t>89</a:t>
            </a:r>
            <a:endParaRPr lang="en-US" sz="3000" dirty="0"/>
          </a:p>
        </p:txBody>
      </p:sp>
      <p:sp>
        <p:nvSpPr>
          <p:cNvPr id="10" name="Text 7"/>
          <p:cNvSpPr/>
          <p:nvPr/>
        </p:nvSpPr>
        <p:spPr>
          <a:xfrm>
            <a:off x="868680" y="5266944"/>
            <a:ext cx="2109978" cy="411480"/>
          </a:xfrm>
          <a:prstGeom prst="rect">
            <a:avLst/>
          </a:prstGeom>
          <a:noFill/>
          <a:ln/>
        </p:spPr>
        <p:txBody>
          <a:bodyPr wrap="square" lIns="0" tIns="0" rIns="0" bIns="0" rtlCol="0" anchor="t"/>
          <a:lstStyle/>
          <a:p>
            <a:pPr indent="0" marL="0">
              <a:buNone/>
            </a:pPr>
            <a:r>
              <a:rPr lang="en-US" sz="1050" dirty="0">
                <a:solidFill>
                  <a:srgbClr val="9FB3A6"/>
                </a:solidFill>
                <a:latin typeface="Calibri" pitchFamily="34" charset="0"/>
                <a:ea typeface="Calibri" pitchFamily="34" charset="-122"/>
                <a:cs typeface="Calibri" pitchFamily="34" charset="-120"/>
              </a:rPr>
              <a:t>commits merged to main</a:t>
            </a:r>
            <a:endParaRPr lang="en-US" sz="1050" dirty="0"/>
          </a:p>
        </p:txBody>
      </p:sp>
      <p:sp>
        <p:nvSpPr>
          <p:cNvPr id="11" name="Shape 8"/>
          <p:cNvSpPr/>
          <p:nvPr/>
        </p:nvSpPr>
        <p:spPr>
          <a:xfrm>
            <a:off x="3435858" y="4572000"/>
            <a:ext cx="2521458" cy="1234440"/>
          </a:xfrm>
          <a:prstGeom prst="roundRect">
            <a:avLst>
              <a:gd name="adj" fmla="val 5926"/>
            </a:avLst>
          </a:prstGeom>
          <a:solidFill>
            <a:srgbClr val="0C1F17"/>
          </a:solidFill>
          <a:ln w="9525">
            <a:solidFill>
              <a:srgbClr val="1C3B2C"/>
            </a:solidFill>
            <a:prstDash val="solid"/>
          </a:ln>
        </p:spPr>
      </p:sp>
      <p:sp>
        <p:nvSpPr>
          <p:cNvPr id="12" name="Text 9"/>
          <p:cNvSpPr/>
          <p:nvPr/>
        </p:nvSpPr>
        <p:spPr>
          <a:xfrm>
            <a:off x="3664458" y="4718304"/>
            <a:ext cx="2064258" cy="548640"/>
          </a:xfrm>
          <a:prstGeom prst="rect">
            <a:avLst/>
          </a:prstGeom>
          <a:noFill/>
          <a:ln/>
        </p:spPr>
        <p:txBody>
          <a:bodyPr wrap="square" lIns="0" tIns="0" rIns="0" bIns="0" rtlCol="0" anchor="ctr"/>
          <a:lstStyle/>
          <a:p>
            <a:pPr indent="0" marL="0">
              <a:buNone/>
            </a:pPr>
            <a:r>
              <a:rPr lang="en-US" sz="3000" b="1" dirty="0">
                <a:solidFill>
                  <a:srgbClr val="7CBF3F"/>
                </a:solidFill>
                <a:latin typeface="Arial" pitchFamily="34" charset="0"/>
                <a:ea typeface="Arial" pitchFamily="34" charset="-122"/>
                <a:cs typeface="Arial" pitchFamily="34" charset="-120"/>
              </a:rPr>
              <a:t>48K</a:t>
            </a:r>
            <a:endParaRPr lang="en-US" sz="3000" dirty="0"/>
          </a:p>
        </p:txBody>
      </p:sp>
      <p:sp>
        <p:nvSpPr>
          <p:cNvPr id="13" name="Text 10"/>
          <p:cNvSpPr/>
          <p:nvPr/>
        </p:nvSpPr>
        <p:spPr>
          <a:xfrm>
            <a:off x="3664458" y="5266944"/>
            <a:ext cx="2109978" cy="411480"/>
          </a:xfrm>
          <a:prstGeom prst="rect">
            <a:avLst/>
          </a:prstGeom>
          <a:noFill/>
          <a:ln/>
        </p:spPr>
        <p:txBody>
          <a:bodyPr wrap="square" lIns="0" tIns="0" rIns="0" bIns="0" rtlCol="0" anchor="t"/>
          <a:lstStyle/>
          <a:p>
            <a:pPr indent="0" marL="0">
              <a:buNone/>
            </a:pPr>
            <a:r>
              <a:rPr lang="en-US" sz="1050" dirty="0">
                <a:solidFill>
                  <a:srgbClr val="9FB3A6"/>
                </a:solidFill>
                <a:latin typeface="Calibri" pitchFamily="34" charset="0"/>
                <a:ea typeface="Calibri" pitchFamily="34" charset="-122"/>
                <a:cs typeface="Calibri" pitchFamily="34" charset="-120"/>
              </a:rPr>
              <a:t>lines added — TS, Python, Swift</a:t>
            </a:r>
            <a:endParaRPr lang="en-US" sz="1050" dirty="0"/>
          </a:p>
        </p:txBody>
      </p:sp>
      <p:sp>
        <p:nvSpPr>
          <p:cNvPr id="14" name="Shape 11"/>
          <p:cNvSpPr/>
          <p:nvPr/>
        </p:nvSpPr>
        <p:spPr>
          <a:xfrm>
            <a:off x="6231636" y="4572000"/>
            <a:ext cx="2521458" cy="1234440"/>
          </a:xfrm>
          <a:prstGeom prst="roundRect">
            <a:avLst>
              <a:gd name="adj" fmla="val 5926"/>
            </a:avLst>
          </a:prstGeom>
          <a:solidFill>
            <a:srgbClr val="0C1F17"/>
          </a:solidFill>
          <a:ln w="9525">
            <a:solidFill>
              <a:srgbClr val="1C3B2C"/>
            </a:solidFill>
            <a:prstDash val="solid"/>
          </a:ln>
        </p:spPr>
      </p:sp>
      <p:sp>
        <p:nvSpPr>
          <p:cNvPr id="15" name="Text 12"/>
          <p:cNvSpPr/>
          <p:nvPr/>
        </p:nvSpPr>
        <p:spPr>
          <a:xfrm>
            <a:off x="6460236" y="4718304"/>
            <a:ext cx="2064258" cy="548640"/>
          </a:xfrm>
          <a:prstGeom prst="rect">
            <a:avLst/>
          </a:prstGeom>
          <a:noFill/>
          <a:ln/>
        </p:spPr>
        <p:txBody>
          <a:bodyPr wrap="square" lIns="0" tIns="0" rIns="0" bIns="0" rtlCol="0" anchor="ctr"/>
          <a:lstStyle/>
          <a:p>
            <a:pPr indent="0" marL="0">
              <a:buNone/>
            </a:pPr>
            <a:r>
              <a:rPr lang="en-US" sz="3000" b="1" dirty="0">
                <a:solidFill>
                  <a:srgbClr val="7CBF3F"/>
                </a:solidFill>
                <a:latin typeface="Arial" pitchFamily="34" charset="0"/>
                <a:ea typeface="Arial" pitchFamily="34" charset="-122"/>
                <a:cs typeface="Arial" pitchFamily="34" charset="-120"/>
              </a:rPr>
              <a:t>728</a:t>
            </a:r>
            <a:endParaRPr lang="en-US" sz="3000" dirty="0"/>
          </a:p>
        </p:txBody>
      </p:sp>
      <p:sp>
        <p:nvSpPr>
          <p:cNvPr id="16" name="Text 13"/>
          <p:cNvSpPr/>
          <p:nvPr/>
        </p:nvSpPr>
        <p:spPr>
          <a:xfrm>
            <a:off x="6460236" y="5266944"/>
            <a:ext cx="2109978" cy="411480"/>
          </a:xfrm>
          <a:prstGeom prst="rect">
            <a:avLst/>
          </a:prstGeom>
          <a:noFill/>
          <a:ln/>
        </p:spPr>
        <p:txBody>
          <a:bodyPr wrap="square" lIns="0" tIns="0" rIns="0" bIns="0" rtlCol="0" anchor="t"/>
          <a:lstStyle/>
          <a:p>
            <a:pPr indent="0" marL="0">
              <a:buNone/>
            </a:pPr>
            <a:r>
              <a:rPr lang="en-US" sz="1050" dirty="0">
                <a:solidFill>
                  <a:srgbClr val="9FB3A6"/>
                </a:solidFill>
                <a:latin typeface="Calibri" pitchFamily="34" charset="0"/>
                <a:ea typeface="Calibri" pitchFamily="34" charset="-122"/>
                <a:cs typeface="Calibri" pitchFamily="34" charset="-120"/>
              </a:rPr>
              <a:t>tests green before every merge</a:t>
            </a:r>
            <a:endParaRPr lang="en-US" sz="1050" dirty="0"/>
          </a:p>
        </p:txBody>
      </p:sp>
      <p:sp>
        <p:nvSpPr>
          <p:cNvPr id="17" name="Shape 14"/>
          <p:cNvSpPr/>
          <p:nvPr/>
        </p:nvSpPr>
        <p:spPr>
          <a:xfrm>
            <a:off x="9027414" y="4572000"/>
            <a:ext cx="2521458" cy="1234440"/>
          </a:xfrm>
          <a:prstGeom prst="roundRect">
            <a:avLst>
              <a:gd name="adj" fmla="val 5926"/>
            </a:avLst>
          </a:prstGeom>
          <a:solidFill>
            <a:srgbClr val="0C1F17"/>
          </a:solidFill>
          <a:ln w="9525">
            <a:solidFill>
              <a:srgbClr val="1C3B2C"/>
            </a:solidFill>
            <a:prstDash val="solid"/>
          </a:ln>
        </p:spPr>
      </p:sp>
      <p:sp>
        <p:nvSpPr>
          <p:cNvPr id="18" name="Text 15"/>
          <p:cNvSpPr/>
          <p:nvPr/>
        </p:nvSpPr>
        <p:spPr>
          <a:xfrm>
            <a:off x="9256014" y="4718304"/>
            <a:ext cx="2064258" cy="548640"/>
          </a:xfrm>
          <a:prstGeom prst="rect">
            <a:avLst/>
          </a:prstGeom>
          <a:noFill/>
          <a:ln/>
        </p:spPr>
        <p:txBody>
          <a:bodyPr wrap="square" lIns="0" tIns="0" rIns="0" bIns="0" rtlCol="0" anchor="ctr"/>
          <a:lstStyle/>
          <a:p>
            <a:pPr indent="0" marL="0">
              <a:buNone/>
            </a:pPr>
            <a:r>
              <a:rPr lang="en-US" sz="3000" b="1" dirty="0">
                <a:solidFill>
                  <a:srgbClr val="7CBF3F"/>
                </a:solidFill>
                <a:latin typeface="Arial" pitchFamily="34" charset="0"/>
                <a:ea typeface="Arial" pitchFamily="34" charset="-122"/>
                <a:cs typeface="Arial" pitchFamily="34" charset="-120"/>
              </a:rPr>
              <a:t>7</a:t>
            </a:r>
            <a:endParaRPr lang="en-US" sz="3000" dirty="0"/>
          </a:p>
        </p:txBody>
      </p:sp>
      <p:sp>
        <p:nvSpPr>
          <p:cNvPr id="19" name="Text 16"/>
          <p:cNvSpPr/>
          <p:nvPr/>
        </p:nvSpPr>
        <p:spPr>
          <a:xfrm>
            <a:off x="9256014" y="5266944"/>
            <a:ext cx="2109978" cy="411480"/>
          </a:xfrm>
          <a:prstGeom prst="rect">
            <a:avLst/>
          </a:prstGeom>
          <a:noFill/>
          <a:ln/>
        </p:spPr>
        <p:txBody>
          <a:bodyPr wrap="square" lIns="0" tIns="0" rIns="0" bIns="0" rtlCol="0" anchor="t"/>
          <a:lstStyle/>
          <a:p>
            <a:pPr indent="0" marL="0">
              <a:buNone/>
            </a:pPr>
            <a:r>
              <a:rPr lang="en-US" sz="1050" dirty="0">
                <a:solidFill>
                  <a:srgbClr val="9FB3A6"/>
                </a:solidFill>
                <a:latin typeface="Calibri" pitchFamily="34" charset="0"/>
                <a:ea typeface="Calibri" pitchFamily="34" charset="-122"/>
                <a:cs typeface="Calibri" pitchFamily="34" charset="-120"/>
              </a:rPr>
              <a:t>days, scaffold to live product</a:t>
            </a:r>
            <a:endParaRPr lang="en-US" sz="1050" dirty="0"/>
          </a:p>
        </p:txBody>
      </p:sp>
      <p:sp>
        <p:nvSpPr>
          <p:cNvPr id="20" name="Text 17"/>
          <p:cNvSpPr/>
          <p:nvPr/>
        </p:nvSpPr>
        <p:spPr>
          <a:xfrm>
            <a:off x="640080" y="6172200"/>
            <a:ext cx="5486400" cy="237744"/>
          </a:xfrm>
          <a:prstGeom prst="rect">
            <a:avLst/>
          </a:prstGeom>
          <a:noFill/>
          <a:ln/>
        </p:spPr>
        <p:txBody>
          <a:bodyPr wrap="square" lIns="0" tIns="0" rIns="0" bIns="0" rtlCol="0" anchor="ctr"/>
          <a:lstStyle/>
          <a:p>
            <a:pPr indent="0" marL="0">
              <a:buNone/>
            </a:pPr>
            <a:r>
              <a:rPr lang="en-US" sz="1000" dirty="0">
                <a:solidFill>
                  <a:srgbClr val="70857A"/>
                </a:solidFill>
                <a:latin typeface="Calibri" pitchFamily="34" charset="0"/>
                <a:ea typeface="Calibri" pitchFamily="34" charset="-122"/>
                <a:cs typeface="Calibri" pitchFamily="34" charset="-120"/>
              </a:rPr>
              <a:t>RacketIQ  ·  weekly build report</a:t>
            </a:r>
            <a:endParaRPr lang="en-US" sz="1000" dirty="0"/>
          </a:p>
        </p:txBody>
      </p:sp>
      <p:sp>
        <p:nvSpPr>
          <p:cNvPr id="21" name="Text 18"/>
          <p:cNvSpPr/>
          <p:nvPr/>
        </p:nvSpPr>
        <p:spPr>
          <a:xfrm>
            <a:off x="10881360" y="6172200"/>
            <a:ext cx="667512" cy="237744"/>
          </a:xfrm>
          <a:prstGeom prst="rect">
            <a:avLst/>
          </a:prstGeom>
          <a:noFill/>
          <a:ln/>
        </p:spPr>
        <p:txBody>
          <a:bodyPr wrap="square" lIns="0" tIns="0" rIns="0" bIns="0" rtlCol="0" anchor="ctr"/>
          <a:lstStyle/>
          <a:p>
            <a:pPr algn="r" indent="0" marL="0">
              <a:buNone/>
            </a:pPr>
            <a:r>
              <a:rPr lang="en-US" sz="1000" dirty="0">
                <a:solidFill>
                  <a:srgbClr val="70857A"/>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130E"/>
        </a:solidFill>
      </p:bgPr>
    </p:bg>
    <p:spTree>
      <p:nvGrpSpPr>
        <p:cNvPr id="1" name=""/>
        <p:cNvGrpSpPr/>
        <p:nvPr/>
      </p:nvGrpSpPr>
      <p:grpSpPr>
        <a:xfrm>
          <a:off x="0" y="0"/>
          <a:ext cx="0" cy="0"/>
          <a:chOff x="0" y="0"/>
          <a:chExt cx="0" cy="0"/>
        </a:xfrm>
      </p:grpSpPr>
      <p:sp>
        <p:nvSpPr>
          <p:cNvPr id="2" name="Text 0"/>
          <p:cNvSpPr/>
          <p:nvPr/>
        </p:nvSpPr>
        <p:spPr>
          <a:xfrm>
            <a:off x="640080" y="566928"/>
            <a:ext cx="5486400" cy="219456"/>
          </a:xfrm>
          <a:prstGeom prst="rect">
            <a:avLst/>
          </a:prstGeom>
          <a:noFill/>
          <a:ln/>
        </p:spPr>
        <p:txBody>
          <a:bodyPr wrap="square" lIns="0" tIns="0" rIns="0" bIns="0" rtlCol="0" anchor="ctr"/>
          <a:lstStyle/>
          <a:p>
            <a:pPr indent="0" marL="0">
              <a:buNone/>
            </a:pPr>
            <a:r>
              <a:rPr lang="en-US" sz="1050" b="1" spc="200" kern="0" dirty="0">
                <a:solidFill>
                  <a:srgbClr val="A6D47D"/>
                </a:solidFill>
                <a:latin typeface="Calibri" pitchFamily="34" charset="0"/>
                <a:ea typeface="Calibri" pitchFamily="34" charset="-122"/>
                <a:cs typeface="Calibri" pitchFamily="34" charset="-120"/>
              </a:rPr>
              <a:t>THE CONTEXT  ·  WHAT CAME BEFORE</a:t>
            </a:r>
            <a:endParaRPr lang="en-US" sz="105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indent="0" marL="0">
              <a:buNone/>
            </a:pPr>
            <a:r>
              <a:rPr lang="en-US" sz="3200" b="1" dirty="0">
                <a:solidFill>
                  <a:srgbClr val="F4F7F3"/>
                </a:solidFill>
                <a:latin typeface="Arial" pitchFamily="34" charset="0"/>
                <a:ea typeface="Arial" pitchFamily="34" charset="-122"/>
                <a:cs typeface="Arial" pitchFamily="34" charset="-120"/>
              </a:rPr>
              <a:t>Before this: daybot</a:t>
            </a:r>
            <a:endParaRPr lang="en-US" sz="3200" dirty="0"/>
          </a:p>
        </p:txBody>
      </p:sp>
      <p:sp>
        <p:nvSpPr>
          <p:cNvPr id="4" name="Text 2"/>
          <p:cNvSpPr/>
          <p:nvPr/>
        </p:nvSpPr>
        <p:spPr>
          <a:xfrm>
            <a:off x="640080" y="1645920"/>
            <a:ext cx="5120640" cy="914400"/>
          </a:xfrm>
          <a:prstGeom prst="rect">
            <a:avLst/>
          </a:prstGeom>
          <a:noFill/>
          <a:ln/>
        </p:spPr>
        <p:txBody>
          <a:bodyPr wrap="square" lIns="0" tIns="0" rIns="0" bIns="0" rtlCol="0" anchor="t"/>
          <a:lstStyle/>
          <a:p>
            <a:pPr indent="0" marL="0">
              <a:lnSpc>
                <a:spcPts val="1800"/>
              </a:lnSpc>
              <a:buNone/>
            </a:pPr>
            <a:r>
              <a:rPr lang="en-US" sz="1250" dirty="0">
                <a:solidFill>
                  <a:srgbClr val="9FB3A6"/>
                </a:solidFill>
                <a:latin typeface="Calibri" pitchFamily="34" charset="0"/>
                <a:ea typeface="Calibri" pitchFamily="34" charset="-122"/>
                <a:cs typeface="Calibri" pitchFamily="34" charset="-120"/>
              </a:rPr>
              <a:t>daybot is an AI dropshipping storefront platform — a FastAPI backend, a merchant web dashboard, buyer storefronts, and one Expo codebase that ships to both app stores.</a:t>
            </a:r>
            <a:endParaRPr lang="en-US" sz="1250" dirty="0"/>
          </a:p>
        </p:txBody>
      </p:sp>
      <p:sp>
        <p:nvSpPr>
          <p:cNvPr id="5" name="Shape 3"/>
          <p:cNvSpPr/>
          <p:nvPr/>
        </p:nvSpPr>
        <p:spPr>
          <a:xfrm>
            <a:off x="640080" y="2697480"/>
            <a:ext cx="5120640" cy="1005840"/>
          </a:xfrm>
          <a:prstGeom prst="roundRect">
            <a:avLst>
              <a:gd name="adj" fmla="val 7273"/>
            </a:avLst>
          </a:prstGeom>
          <a:solidFill>
            <a:srgbClr val="0F2A1F"/>
          </a:solidFill>
          <a:ln w="9525">
            <a:solidFill>
              <a:srgbClr val="1C3B2C"/>
            </a:solidFill>
            <a:prstDash val="solid"/>
          </a:ln>
        </p:spPr>
      </p:sp>
      <p:sp>
        <p:nvSpPr>
          <p:cNvPr id="6" name="Text 4"/>
          <p:cNvSpPr/>
          <p:nvPr/>
        </p:nvSpPr>
        <p:spPr>
          <a:xfrm>
            <a:off x="868680" y="2852928"/>
            <a:ext cx="4663440" cy="731520"/>
          </a:xfrm>
          <a:prstGeom prst="rect">
            <a:avLst/>
          </a:prstGeom>
          <a:noFill/>
          <a:ln/>
        </p:spPr>
        <p:txBody>
          <a:bodyPr wrap="square" lIns="0" tIns="0" rIns="0" bIns="0" rtlCol="0" anchor="t"/>
          <a:lstStyle/>
          <a:p>
            <a:pPr indent="0" marL="0">
              <a:lnSpc>
                <a:spcPts val="1600"/>
              </a:lnSpc>
              <a:buNone/>
            </a:pPr>
            <a:r>
              <a:rPr lang="en-US" sz="1150" b="1" dirty="0">
                <a:solidFill>
                  <a:srgbClr val="A6D47D"/>
                </a:solidFill>
                <a:latin typeface="Calibri" pitchFamily="34" charset="0"/>
                <a:ea typeface="Calibri" pitchFamily="34" charset="-122"/>
                <a:cs typeface="Calibri" pitchFamily="34" charset="-120"/>
              </a:rPr>
              <a:t>Deliberately on pause — not dead.  </a:t>
            </a:r>
            <a:pPr indent="0" marL="0">
              <a:lnSpc>
                <a:spcPts val="1600"/>
              </a:lnSpc>
              <a:buNone/>
            </a:pPr>
            <a:r>
              <a:rPr lang="en-US" sz="1150" dirty="0">
                <a:solidFill>
                  <a:srgbClr val="9FB3A6"/>
                </a:solidFill>
                <a:latin typeface="Calibri" pitchFamily="34" charset="0"/>
                <a:ea typeface="Calibri" pitchFamily="34" charset="-122"/>
                <a:cs typeface="Calibri" pitchFamily="34" charset="-120"/>
              </a:rPr>
              <a:t>daybot is paused so every hour this week could go into RacketIQ — the pause is a bet on focus, not a retreat.</a:t>
            </a:r>
            <a:endParaRPr lang="en-US" sz="1150" dirty="0"/>
          </a:p>
        </p:txBody>
      </p:sp>
      <p:sp>
        <p:nvSpPr>
          <p:cNvPr id="7" name="Shape 5"/>
          <p:cNvSpPr/>
          <p:nvPr/>
        </p:nvSpPr>
        <p:spPr>
          <a:xfrm>
            <a:off x="640080" y="3931920"/>
            <a:ext cx="5120640" cy="1417320"/>
          </a:xfrm>
          <a:prstGeom prst="roundRect">
            <a:avLst>
              <a:gd name="adj" fmla="val 5161"/>
            </a:avLst>
          </a:prstGeom>
          <a:solidFill>
            <a:srgbClr val="0C1F17"/>
          </a:solidFill>
          <a:ln w="9525">
            <a:solidFill>
              <a:srgbClr val="1C3B2C"/>
            </a:solidFill>
            <a:prstDash val="solid"/>
          </a:ln>
        </p:spPr>
      </p:sp>
      <p:sp>
        <p:nvSpPr>
          <p:cNvPr id="8" name="Text 6"/>
          <p:cNvSpPr/>
          <p:nvPr/>
        </p:nvSpPr>
        <p:spPr>
          <a:xfrm>
            <a:off x="868680" y="4087368"/>
            <a:ext cx="4663440" cy="219456"/>
          </a:xfrm>
          <a:prstGeom prst="rect">
            <a:avLst/>
          </a:prstGeom>
          <a:noFill/>
          <a:ln/>
        </p:spPr>
        <p:txBody>
          <a:bodyPr wrap="square" lIns="0" tIns="0" rIns="0" bIns="0" rtlCol="0" anchor="ctr"/>
          <a:lstStyle/>
          <a:p>
            <a:pPr indent="0" marL="0">
              <a:buNone/>
            </a:pPr>
            <a:r>
              <a:rPr lang="en-US" sz="1050" b="1" spc="200" kern="0" dirty="0">
                <a:solidFill>
                  <a:srgbClr val="A6D47D"/>
                </a:solidFill>
                <a:latin typeface="Calibri" pitchFamily="34" charset="0"/>
                <a:ea typeface="Calibri" pitchFamily="34" charset="-122"/>
                <a:cs typeface="Calibri" pitchFamily="34" charset="-120"/>
              </a:rPr>
              <a:t>CARRIED FORWARD</a:t>
            </a:r>
            <a:endParaRPr lang="en-US" sz="1050" dirty="0"/>
          </a:p>
        </p:txBody>
      </p:sp>
      <p:sp>
        <p:nvSpPr>
          <p:cNvPr id="9" name="Text 7"/>
          <p:cNvSpPr/>
          <p:nvPr/>
        </p:nvSpPr>
        <p:spPr>
          <a:xfrm>
            <a:off x="868680" y="4361688"/>
            <a:ext cx="4663440" cy="914400"/>
          </a:xfrm>
          <a:prstGeom prst="rect">
            <a:avLst/>
          </a:prstGeom>
          <a:noFill/>
          <a:ln/>
        </p:spPr>
        <p:txBody>
          <a:bodyPr wrap="square" lIns="0" tIns="0" rIns="0" bIns="0" rtlCol="0" anchor="t"/>
          <a:lstStyle/>
          <a:p>
            <a:pPr indent="0" marL="0">
              <a:lnSpc>
                <a:spcPts val="1600"/>
              </a:lnSpc>
              <a:buNone/>
            </a:pPr>
            <a:r>
              <a:rPr lang="en-US" sz="1150" dirty="0">
                <a:solidFill>
                  <a:srgbClr val="9FB3A6"/>
                </a:solidFill>
                <a:latin typeface="Calibri" pitchFamily="34" charset="0"/>
                <a:ea typeface="Calibri" pitchFamily="34" charset="-122"/>
                <a:cs typeface="Calibri" pitchFamily="34" charset="-120"/>
              </a:rPr>
              <a:t>The pinned Expo SDK 57 matrix already proven under App Review, the App Store runbook, and the credential hygiene — RacketIQ started this week on rails daybot paid for.</a:t>
            </a:r>
            <a:endParaRPr lang="en-US" sz="1150" dirty="0"/>
          </a:p>
        </p:txBody>
      </p:sp>
      <p:sp>
        <p:nvSpPr>
          <p:cNvPr id="10" name="Shape 8"/>
          <p:cNvSpPr/>
          <p:nvPr/>
        </p:nvSpPr>
        <p:spPr>
          <a:xfrm>
            <a:off x="6035040" y="1645920"/>
            <a:ext cx="5513832" cy="2148840"/>
          </a:xfrm>
          <a:prstGeom prst="roundRect">
            <a:avLst>
              <a:gd name="adj" fmla="val 3404"/>
            </a:avLst>
          </a:prstGeom>
          <a:solidFill>
            <a:srgbClr val="0C1F17"/>
          </a:solidFill>
          <a:ln w="9525">
            <a:solidFill>
              <a:srgbClr val="1C3B2C"/>
            </a:solidFill>
            <a:prstDash val="solid"/>
          </a:ln>
        </p:spPr>
      </p:sp>
      <p:sp>
        <p:nvSpPr>
          <p:cNvPr id="11" name="Text 9"/>
          <p:cNvSpPr/>
          <p:nvPr/>
        </p:nvSpPr>
        <p:spPr>
          <a:xfrm>
            <a:off x="6263640" y="1810512"/>
            <a:ext cx="5029200" cy="219456"/>
          </a:xfrm>
          <a:prstGeom prst="rect">
            <a:avLst/>
          </a:prstGeom>
          <a:noFill/>
          <a:ln/>
        </p:spPr>
        <p:txBody>
          <a:bodyPr wrap="square" lIns="0" tIns="0" rIns="0" bIns="0" rtlCol="0" anchor="ctr"/>
          <a:lstStyle/>
          <a:p>
            <a:pPr indent="0" marL="0">
              <a:buNone/>
            </a:pPr>
            <a:r>
              <a:rPr lang="en-US" sz="1050" b="1" spc="200" kern="0" dirty="0">
                <a:solidFill>
                  <a:srgbClr val="A6D47D"/>
                </a:solidFill>
                <a:latin typeface="Calibri" pitchFamily="34" charset="0"/>
                <a:ea typeface="Calibri" pitchFamily="34" charset="-122"/>
                <a:cs typeface="Calibri" pitchFamily="34" charset="-120"/>
              </a:rPr>
              <a:t>BUILT FROM SCRATCH</a:t>
            </a:r>
            <a:endParaRPr lang="en-US" sz="1050" dirty="0"/>
          </a:p>
        </p:txBody>
      </p:sp>
      <p:sp>
        <p:nvSpPr>
          <p:cNvPr id="12" name="Text 10"/>
          <p:cNvSpPr/>
          <p:nvPr/>
        </p:nvSpPr>
        <p:spPr>
          <a:xfrm>
            <a:off x="6263640" y="2066544"/>
            <a:ext cx="5029200" cy="566928"/>
          </a:xfrm>
          <a:prstGeom prst="rect">
            <a:avLst/>
          </a:prstGeom>
          <a:noFill/>
          <a:ln/>
        </p:spPr>
        <p:txBody>
          <a:bodyPr wrap="square" lIns="0" tIns="0" rIns="0" bIns="0" rtlCol="0" anchor="ctr"/>
          <a:lstStyle/>
          <a:p>
            <a:pPr indent="0" marL="0">
              <a:buNone/>
            </a:pPr>
            <a:r>
              <a:rPr lang="en-US" sz="3000" b="1" dirty="0">
                <a:solidFill>
                  <a:srgbClr val="F4F7F3"/>
                </a:solidFill>
                <a:latin typeface="Arial" pitchFamily="34" charset="0"/>
                <a:ea typeface="Arial" pitchFamily="34" charset="-122"/>
                <a:cs typeface="Arial" pitchFamily="34" charset="-120"/>
              </a:rPr>
              <a:t>0 → App Store</a:t>
            </a:r>
            <a:endParaRPr lang="en-US" sz="3000" dirty="0"/>
          </a:p>
        </p:txBody>
      </p:sp>
      <p:sp>
        <p:nvSpPr>
          <p:cNvPr id="13" name="Text 11"/>
          <p:cNvSpPr/>
          <p:nvPr/>
        </p:nvSpPr>
        <p:spPr>
          <a:xfrm>
            <a:off x="6263640" y="2633472"/>
            <a:ext cx="5029200" cy="310896"/>
          </a:xfrm>
          <a:prstGeom prst="rect">
            <a:avLst/>
          </a:prstGeom>
          <a:noFill/>
          <a:ln/>
        </p:spPr>
        <p:txBody>
          <a:bodyPr wrap="square" lIns="0" tIns="0" rIns="0" bIns="0" rtlCol="0" anchor="ctr"/>
          <a:lstStyle/>
          <a:p>
            <a:pPr indent="0" marL="0">
              <a:buNone/>
            </a:pPr>
            <a:r>
              <a:rPr lang="en-US" sz="1500" b="1" dirty="0">
                <a:solidFill>
                  <a:srgbClr val="7CBF3F"/>
                </a:solidFill>
                <a:latin typeface="Calibri" pitchFamily="34" charset="0"/>
                <a:ea typeface="Calibri" pitchFamily="34" charset="-122"/>
                <a:cs typeface="Calibri" pitchFamily="34" charset="-120"/>
              </a:rPr>
              <a:t>live worldwide, in about one week</a:t>
            </a:r>
            <a:endParaRPr lang="en-US" sz="1500" dirty="0"/>
          </a:p>
        </p:txBody>
      </p:sp>
      <p:sp>
        <p:nvSpPr>
          <p:cNvPr id="14" name="Text 12"/>
          <p:cNvSpPr/>
          <p:nvPr/>
        </p:nvSpPr>
        <p:spPr>
          <a:xfrm>
            <a:off x="6263640" y="3017520"/>
            <a:ext cx="5074920" cy="685800"/>
          </a:xfrm>
          <a:prstGeom prst="rect">
            <a:avLst/>
          </a:prstGeom>
          <a:noFill/>
          <a:ln/>
        </p:spPr>
        <p:txBody>
          <a:bodyPr wrap="square" lIns="0" tIns="0" rIns="0" bIns="0" rtlCol="0" anchor="t"/>
          <a:lstStyle/>
          <a:p>
            <a:pPr indent="0" marL="0">
              <a:lnSpc>
                <a:spcPts val="1400"/>
              </a:lnSpc>
              <a:buNone/>
            </a:pPr>
            <a:r>
              <a:rPr lang="en-US" sz="1050" dirty="0">
                <a:solidFill>
                  <a:srgbClr val="9FB3A6"/>
                </a:solidFill>
                <a:latin typeface="Calibri" pitchFamily="34" charset="0"/>
                <a:ea typeface="Calibri" pitchFamily="34" charset="-122"/>
                <a:cs typeface="Calibri" pitchFamily="34" charset="-120"/>
              </a:rPr>
              <a:t>The daybot iOS app went from an empty folder to live on the App Store worldwide in roughly a week — through one rejection and a five-lens submission audit.</a:t>
            </a:r>
            <a:endParaRPr lang="en-US" sz="1050" dirty="0"/>
          </a:p>
        </p:txBody>
      </p:sp>
      <p:sp>
        <p:nvSpPr>
          <p:cNvPr id="15" name="Shape 13"/>
          <p:cNvSpPr/>
          <p:nvPr/>
        </p:nvSpPr>
        <p:spPr>
          <a:xfrm>
            <a:off x="6035040" y="3977640"/>
            <a:ext cx="2642616" cy="822960"/>
          </a:xfrm>
          <a:prstGeom prst="roundRect">
            <a:avLst>
              <a:gd name="adj" fmla="val 8889"/>
            </a:avLst>
          </a:prstGeom>
          <a:solidFill>
            <a:srgbClr val="0C1F17"/>
          </a:solidFill>
          <a:ln w="9525">
            <a:solidFill>
              <a:srgbClr val="1C3B2C"/>
            </a:solidFill>
            <a:prstDash val="solid"/>
          </a:ln>
        </p:spPr>
      </p:sp>
      <p:sp>
        <p:nvSpPr>
          <p:cNvPr id="16" name="Text 14"/>
          <p:cNvSpPr/>
          <p:nvPr/>
        </p:nvSpPr>
        <p:spPr>
          <a:xfrm>
            <a:off x="6236208" y="4069080"/>
            <a:ext cx="2240280" cy="365760"/>
          </a:xfrm>
          <a:prstGeom prst="rect">
            <a:avLst/>
          </a:prstGeom>
          <a:noFill/>
          <a:ln/>
        </p:spPr>
        <p:txBody>
          <a:bodyPr wrap="square" lIns="0" tIns="0" rIns="0" bIns="0" rtlCol="0" anchor="ctr"/>
          <a:lstStyle/>
          <a:p>
            <a:pPr indent="0" marL="0">
              <a:buNone/>
            </a:pPr>
            <a:r>
              <a:rPr lang="en-US" sz="1900" b="1" dirty="0">
                <a:solidFill>
                  <a:srgbClr val="7CBF3F"/>
                </a:solidFill>
                <a:latin typeface="Arial" pitchFamily="34" charset="0"/>
                <a:ea typeface="Arial" pitchFamily="34" charset="-122"/>
                <a:cs typeface="Arial" pitchFamily="34" charset="-120"/>
              </a:rPr>
              <a:t>736</a:t>
            </a:r>
            <a:endParaRPr lang="en-US" sz="1900" dirty="0"/>
          </a:p>
        </p:txBody>
      </p:sp>
      <p:sp>
        <p:nvSpPr>
          <p:cNvPr id="17" name="Text 15"/>
          <p:cNvSpPr/>
          <p:nvPr/>
        </p:nvSpPr>
        <p:spPr>
          <a:xfrm>
            <a:off x="6236208" y="4434840"/>
            <a:ext cx="2276856" cy="310896"/>
          </a:xfrm>
          <a:prstGeom prst="rect">
            <a:avLst/>
          </a:prstGeom>
          <a:noFill/>
          <a:ln/>
        </p:spPr>
        <p:txBody>
          <a:bodyPr wrap="square" lIns="0" tIns="0" rIns="0" bIns="0" rtlCol="0" anchor="t"/>
          <a:lstStyle/>
          <a:p>
            <a:pPr indent="0" marL="0">
              <a:buNone/>
            </a:pPr>
            <a:r>
              <a:rPr lang="en-US" sz="950" dirty="0">
                <a:solidFill>
                  <a:srgbClr val="9FB3A6"/>
                </a:solidFill>
                <a:latin typeface="Calibri" pitchFamily="34" charset="0"/>
                <a:ea typeface="Calibri" pitchFamily="34" charset="-122"/>
                <a:cs typeface="Calibri" pitchFamily="34" charset="-120"/>
              </a:rPr>
              <a:t>commits on the platform</a:t>
            </a:r>
            <a:endParaRPr lang="en-US" sz="950" dirty="0"/>
          </a:p>
        </p:txBody>
      </p:sp>
      <p:sp>
        <p:nvSpPr>
          <p:cNvPr id="18" name="Shape 16"/>
          <p:cNvSpPr/>
          <p:nvPr/>
        </p:nvSpPr>
        <p:spPr>
          <a:xfrm>
            <a:off x="8906256" y="3977640"/>
            <a:ext cx="2642616" cy="822960"/>
          </a:xfrm>
          <a:prstGeom prst="roundRect">
            <a:avLst>
              <a:gd name="adj" fmla="val 8889"/>
            </a:avLst>
          </a:prstGeom>
          <a:solidFill>
            <a:srgbClr val="0C1F17"/>
          </a:solidFill>
          <a:ln w="9525">
            <a:solidFill>
              <a:srgbClr val="1C3B2C"/>
            </a:solidFill>
            <a:prstDash val="solid"/>
          </a:ln>
        </p:spPr>
      </p:sp>
      <p:sp>
        <p:nvSpPr>
          <p:cNvPr id="19" name="Text 17"/>
          <p:cNvSpPr/>
          <p:nvPr/>
        </p:nvSpPr>
        <p:spPr>
          <a:xfrm>
            <a:off x="9107424" y="4069080"/>
            <a:ext cx="2240280" cy="365760"/>
          </a:xfrm>
          <a:prstGeom prst="rect">
            <a:avLst/>
          </a:prstGeom>
          <a:noFill/>
          <a:ln/>
        </p:spPr>
        <p:txBody>
          <a:bodyPr wrap="square" lIns="0" tIns="0" rIns="0" bIns="0" rtlCol="0" anchor="ctr"/>
          <a:lstStyle/>
          <a:p>
            <a:pPr indent="0" marL="0">
              <a:buNone/>
            </a:pPr>
            <a:r>
              <a:rPr lang="en-US" sz="1900" b="1" dirty="0">
                <a:solidFill>
                  <a:srgbClr val="7CBF3F"/>
                </a:solidFill>
                <a:latin typeface="Arial" pitchFamily="34" charset="0"/>
                <a:ea typeface="Arial" pitchFamily="34" charset="-122"/>
                <a:cs typeface="Arial" pitchFamily="34" charset="-120"/>
              </a:rPr>
              <a:t>~86K</a:t>
            </a:r>
            <a:endParaRPr lang="en-US" sz="1900" dirty="0"/>
          </a:p>
        </p:txBody>
      </p:sp>
      <p:sp>
        <p:nvSpPr>
          <p:cNvPr id="20" name="Text 18"/>
          <p:cNvSpPr/>
          <p:nvPr/>
        </p:nvSpPr>
        <p:spPr>
          <a:xfrm>
            <a:off x="9107424" y="4434840"/>
            <a:ext cx="2276856" cy="310896"/>
          </a:xfrm>
          <a:prstGeom prst="rect">
            <a:avLst/>
          </a:prstGeom>
          <a:noFill/>
          <a:ln/>
        </p:spPr>
        <p:txBody>
          <a:bodyPr wrap="square" lIns="0" tIns="0" rIns="0" bIns="0" rtlCol="0" anchor="t"/>
          <a:lstStyle/>
          <a:p>
            <a:pPr indent="0" marL="0">
              <a:buNone/>
            </a:pPr>
            <a:r>
              <a:rPr lang="en-US" sz="950" dirty="0">
                <a:solidFill>
                  <a:srgbClr val="9FB3A6"/>
                </a:solidFill>
                <a:latin typeface="Calibri" pitchFamily="34" charset="0"/>
                <a:ea typeface="Calibri" pitchFamily="34" charset="-122"/>
                <a:cs typeface="Calibri" pitchFamily="34" charset="-120"/>
              </a:rPr>
              <a:t>lines of Python + TypeScript</a:t>
            </a:r>
            <a:endParaRPr lang="en-US" sz="950" dirty="0"/>
          </a:p>
        </p:txBody>
      </p:sp>
      <p:sp>
        <p:nvSpPr>
          <p:cNvPr id="21" name="Shape 19"/>
          <p:cNvSpPr/>
          <p:nvPr/>
        </p:nvSpPr>
        <p:spPr>
          <a:xfrm>
            <a:off x="6035040" y="4892040"/>
            <a:ext cx="2642616" cy="822960"/>
          </a:xfrm>
          <a:prstGeom prst="roundRect">
            <a:avLst>
              <a:gd name="adj" fmla="val 8889"/>
            </a:avLst>
          </a:prstGeom>
          <a:solidFill>
            <a:srgbClr val="0C1F17"/>
          </a:solidFill>
          <a:ln w="9525">
            <a:solidFill>
              <a:srgbClr val="1C3B2C"/>
            </a:solidFill>
            <a:prstDash val="solid"/>
          </a:ln>
        </p:spPr>
      </p:sp>
      <p:sp>
        <p:nvSpPr>
          <p:cNvPr id="22" name="Text 20"/>
          <p:cNvSpPr/>
          <p:nvPr/>
        </p:nvSpPr>
        <p:spPr>
          <a:xfrm>
            <a:off x="6236208" y="4983480"/>
            <a:ext cx="2240280" cy="365760"/>
          </a:xfrm>
          <a:prstGeom prst="rect">
            <a:avLst/>
          </a:prstGeom>
          <a:noFill/>
          <a:ln/>
        </p:spPr>
        <p:txBody>
          <a:bodyPr wrap="square" lIns="0" tIns="0" rIns="0" bIns="0" rtlCol="0" anchor="ctr"/>
          <a:lstStyle/>
          <a:p>
            <a:pPr indent="0" marL="0">
              <a:buNone/>
            </a:pPr>
            <a:r>
              <a:rPr lang="en-US" sz="1900" b="1" dirty="0">
                <a:solidFill>
                  <a:srgbClr val="7CBF3F"/>
                </a:solidFill>
                <a:latin typeface="Arial" pitchFamily="34" charset="0"/>
                <a:ea typeface="Arial" pitchFamily="34" charset="-122"/>
                <a:cs typeface="Arial" pitchFamily="34" charset="-120"/>
              </a:rPr>
              <a:t>118</a:t>
            </a:r>
            <a:endParaRPr lang="en-US" sz="1900" dirty="0"/>
          </a:p>
        </p:txBody>
      </p:sp>
      <p:sp>
        <p:nvSpPr>
          <p:cNvPr id="23" name="Text 21"/>
          <p:cNvSpPr/>
          <p:nvPr/>
        </p:nvSpPr>
        <p:spPr>
          <a:xfrm>
            <a:off x="6236208" y="5349240"/>
            <a:ext cx="2276856" cy="310896"/>
          </a:xfrm>
          <a:prstGeom prst="rect">
            <a:avLst/>
          </a:prstGeom>
          <a:noFill/>
          <a:ln/>
        </p:spPr>
        <p:txBody>
          <a:bodyPr wrap="square" lIns="0" tIns="0" rIns="0" bIns="0" rtlCol="0" anchor="t"/>
          <a:lstStyle/>
          <a:p>
            <a:pPr indent="0" marL="0">
              <a:buNone/>
            </a:pPr>
            <a:r>
              <a:rPr lang="en-US" sz="950" dirty="0">
                <a:solidFill>
                  <a:srgbClr val="9FB3A6"/>
                </a:solidFill>
                <a:latin typeface="Calibri" pitchFamily="34" charset="0"/>
                <a:ea typeface="Calibri" pitchFamily="34" charset="-122"/>
                <a:cs typeface="Calibri" pitchFamily="34" charset="-120"/>
              </a:rPr>
              <a:t>API routes on the main router</a:t>
            </a:r>
            <a:endParaRPr lang="en-US" sz="950" dirty="0"/>
          </a:p>
        </p:txBody>
      </p:sp>
      <p:sp>
        <p:nvSpPr>
          <p:cNvPr id="24" name="Shape 22"/>
          <p:cNvSpPr/>
          <p:nvPr/>
        </p:nvSpPr>
        <p:spPr>
          <a:xfrm>
            <a:off x="8906256" y="4892040"/>
            <a:ext cx="2642616" cy="822960"/>
          </a:xfrm>
          <a:prstGeom prst="roundRect">
            <a:avLst>
              <a:gd name="adj" fmla="val 8889"/>
            </a:avLst>
          </a:prstGeom>
          <a:solidFill>
            <a:srgbClr val="0C1F17"/>
          </a:solidFill>
          <a:ln w="9525">
            <a:solidFill>
              <a:srgbClr val="1C3B2C"/>
            </a:solidFill>
            <a:prstDash val="solid"/>
          </a:ln>
        </p:spPr>
      </p:sp>
      <p:sp>
        <p:nvSpPr>
          <p:cNvPr id="25" name="Text 23"/>
          <p:cNvSpPr/>
          <p:nvPr/>
        </p:nvSpPr>
        <p:spPr>
          <a:xfrm>
            <a:off x="9107424" y="4983480"/>
            <a:ext cx="2240280" cy="365760"/>
          </a:xfrm>
          <a:prstGeom prst="rect">
            <a:avLst/>
          </a:prstGeom>
          <a:noFill/>
          <a:ln/>
        </p:spPr>
        <p:txBody>
          <a:bodyPr wrap="square" lIns="0" tIns="0" rIns="0" bIns="0" rtlCol="0" anchor="ctr"/>
          <a:lstStyle/>
          <a:p>
            <a:pPr indent="0" marL="0">
              <a:buNone/>
            </a:pPr>
            <a:r>
              <a:rPr lang="en-US" sz="1900" b="1" dirty="0">
                <a:solidFill>
                  <a:srgbClr val="7CBF3F"/>
                </a:solidFill>
                <a:latin typeface="Arial" pitchFamily="34" charset="0"/>
                <a:ea typeface="Arial" pitchFamily="34" charset="-122"/>
                <a:cs typeface="Arial" pitchFamily="34" charset="-120"/>
              </a:rPr>
              <a:t>2</a:t>
            </a:r>
            <a:endParaRPr lang="en-US" sz="1900" dirty="0"/>
          </a:p>
        </p:txBody>
      </p:sp>
      <p:sp>
        <p:nvSpPr>
          <p:cNvPr id="26" name="Text 24"/>
          <p:cNvSpPr/>
          <p:nvPr/>
        </p:nvSpPr>
        <p:spPr>
          <a:xfrm>
            <a:off x="9107424" y="5349240"/>
            <a:ext cx="2276856" cy="310896"/>
          </a:xfrm>
          <a:prstGeom prst="rect">
            <a:avLst/>
          </a:prstGeom>
          <a:noFill/>
          <a:ln/>
        </p:spPr>
        <p:txBody>
          <a:bodyPr wrap="square" lIns="0" tIns="0" rIns="0" bIns="0" rtlCol="0" anchor="t"/>
          <a:lstStyle/>
          <a:p>
            <a:pPr indent="0" marL="0">
              <a:buNone/>
            </a:pPr>
            <a:r>
              <a:rPr lang="en-US" sz="950" dirty="0">
                <a:solidFill>
                  <a:srgbClr val="9FB3A6"/>
                </a:solidFill>
                <a:latin typeface="Calibri" pitchFamily="34" charset="0"/>
                <a:ea typeface="Calibri" pitchFamily="34" charset="-122"/>
                <a:cs typeface="Calibri" pitchFamily="34" charset="-120"/>
              </a:rPr>
              <a:t>stores — iOS shipped, Android prepared</a:t>
            </a:r>
            <a:endParaRPr lang="en-US" sz="950" dirty="0"/>
          </a:p>
        </p:txBody>
      </p:sp>
      <p:sp>
        <p:nvSpPr>
          <p:cNvPr id="27" name="Text 25"/>
          <p:cNvSpPr/>
          <p:nvPr/>
        </p:nvSpPr>
        <p:spPr>
          <a:xfrm>
            <a:off x="10881360" y="6172200"/>
            <a:ext cx="667512" cy="237744"/>
          </a:xfrm>
          <a:prstGeom prst="rect">
            <a:avLst/>
          </a:prstGeom>
          <a:noFill/>
          <a:ln/>
        </p:spPr>
        <p:txBody>
          <a:bodyPr wrap="square" lIns="0" tIns="0" rIns="0" bIns="0" rtlCol="0" anchor="ctr"/>
          <a:lstStyle/>
          <a:p>
            <a:pPr algn="r" indent="0" marL="0">
              <a:buNone/>
            </a:pPr>
            <a:r>
              <a:rPr lang="en-US" sz="1000" dirty="0">
                <a:solidFill>
                  <a:srgbClr val="70857A"/>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30E"/>
        </a:solidFill>
      </p:bgPr>
    </p:bg>
    <p:spTree>
      <p:nvGrpSpPr>
        <p:cNvPr id="1" name=""/>
        <p:cNvGrpSpPr/>
        <p:nvPr/>
      </p:nvGrpSpPr>
      <p:grpSpPr>
        <a:xfrm>
          <a:off x="0" y="0"/>
          <a:ext cx="0" cy="0"/>
          <a:chOff x="0" y="0"/>
          <a:chExt cx="0" cy="0"/>
        </a:xfrm>
      </p:grpSpPr>
      <p:sp>
        <p:nvSpPr>
          <p:cNvPr id="2" name="Text 0"/>
          <p:cNvSpPr/>
          <p:nvPr/>
        </p:nvSpPr>
        <p:spPr>
          <a:xfrm>
            <a:off x="640080" y="548640"/>
            <a:ext cx="10908792" cy="566928"/>
          </a:xfrm>
          <a:prstGeom prst="rect">
            <a:avLst/>
          </a:prstGeom>
          <a:noFill/>
          <a:ln/>
        </p:spPr>
        <p:txBody>
          <a:bodyPr wrap="square" lIns="0" tIns="0" rIns="0" bIns="0" rtlCol="0" anchor="ctr"/>
          <a:lstStyle/>
          <a:p>
            <a:pPr indent="0" marL="0">
              <a:buNone/>
            </a:pPr>
            <a:r>
              <a:rPr lang="en-US" sz="3200" b="1" dirty="0">
                <a:solidFill>
                  <a:srgbClr val="F4F7F3"/>
                </a:solidFill>
                <a:latin typeface="Arial" pitchFamily="34" charset="0"/>
                <a:ea typeface="Arial" pitchFamily="34" charset="-122"/>
                <a:cs typeface="Arial" pitchFamily="34" charset="-120"/>
              </a:rPr>
              <a:t>What the app does now</a:t>
            </a:r>
            <a:endParaRPr lang="en-US" sz="3200" dirty="0"/>
          </a:p>
        </p:txBody>
      </p:sp>
      <p:sp>
        <p:nvSpPr>
          <p:cNvPr id="3" name="Text 1"/>
          <p:cNvSpPr/>
          <p:nvPr/>
        </p:nvSpPr>
        <p:spPr>
          <a:xfrm>
            <a:off x="640080" y="1152144"/>
            <a:ext cx="10543032" cy="402336"/>
          </a:xfrm>
          <a:prstGeom prst="rect">
            <a:avLst/>
          </a:prstGeom>
          <a:noFill/>
          <a:ln/>
        </p:spPr>
        <p:txBody>
          <a:bodyPr wrap="square" lIns="0" tIns="0" rIns="0" bIns="0" rtlCol="0" anchor="t"/>
          <a:lstStyle/>
          <a:p>
            <a:pPr indent="0" marL="0">
              <a:buNone/>
            </a:pPr>
            <a:r>
              <a:rPr lang="en-US" sz="1300" dirty="0">
                <a:solidFill>
                  <a:srgbClr val="9FB3A6"/>
                </a:solidFill>
                <a:latin typeface="Calibri" pitchFamily="34" charset="0"/>
                <a:ea typeface="Calibri" pitchFamily="34" charset="-122"/>
                <a:cs typeface="Calibri" pitchFamily="34" charset="-120"/>
              </a:rPr>
              <a:t>Five surfaces shipped this week — all of them running on real club footage, not demo data.</a:t>
            </a:r>
            <a:endParaRPr lang="en-US" sz="1300" dirty="0"/>
          </a:p>
        </p:txBody>
      </p:sp>
      <p:sp>
        <p:nvSpPr>
          <p:cNvPr id="4" name="Shape 2"/>
          <p:cNvSpPr/>
          <p:nvPr/>
        </p:nvSpPr>
        <p:spPr>
          <a:xfrm>
            <a:off x="640080" y="1801368"/>
            <a:ext cx="173736" cy="173736"/>
          </a:xfrm>
          <a:prstGeom prst="ellipse">
            <a:avLst/>
          </a:prstGeom>
          <a:solidFill>
            <a:srgbClr val="7CBF3F"/>
          </a:solidFill>
          <a:ln w="6350">
            <a:solidFill>
              <a:srgbClr val="7CBF3F"/>
            </a:solidFill>
            <a:prstDash val="solid"/>
          </a:ln>
        </p:spPr>
      </p:sp>
      <p:sp>
        <p:nvSpPr>
          <p:cNvPr id="5" name="Text 3"/>
          <p:cNvSpPr/>
          <p:nvPr/>
        </p:nvSpPr>
        <p:spPr>
          <a:xfrm>
            <a:off x="969264" y="1737360"/>
            <a:ext cx="5303520" cy="256032"/>
          </a:xfrm>
          <a:prstGeom prst="rect">
            <a:avLst/>
          </a:prstGeom>
          <a:noFill/>
          <a:ln/>
        </p:spPr>
        <p:txBody>
          <a:bodyPr wrap="square" lIns="0" tIns="0" rIns="0" bIns="0" rtlCol="0" anchor="ctr"/>
          <a:lstStyle/>
          <a:p>
            <a:pPr indent="0" marL="0">
              <a:buNone/>
            </a:pPr>
            <a:r>
              <a:rPr lang="en-US" sz="1350" b="1" dirty="0">
                <a:solidFill>
                  <a:srgbClr val="F4F7F3"/>
                </a:solidFill>
                <a:latin typeface="Calibri" pitchFamily="34" charset="0"/>
                <a:ea typeface="Calibri" pitchFamily="34" charset="-122"/>
                <a:cs typeface="Calibri" pitchFamily="34" charset="-120"/>
              </a:rPr>
              <a:t>Match analysis</a:t>
            </a:r>
            <a:endParaRPr lang="en-US" sz="1350" dirty="0"/>
          </a:p>
        </p:txBody>
      </p:sp>
      <p:sp>
        <p:nvSpPr>
          <p:cNvPr id="6" name="Text 4"/>
          <p:cNvSpPr/>
          <p:nvPr/>
        </p:nvSpPr>
        <p:spPr>
          <a:xfrm>
            <a:off x="969264" y="2002536"/>
            <a:ext cx="5303520" cy="475488"/>
          </a:xfrm>
          <a:prstGeom prst="rect">
            <a:avLst/>
          </a:prstGeom>
          <a:noFill/>
          <a:ln/>
        </p:spPr>
        <p:txBody>
          <a:bodyPr wrap="square" lIns="0" tIns="0" rIns="0" bIns="0" rtlCol="0" anchor="t"/>
          <a:lstStyle/>
          <a:p>
            <a:pPr indent="0" marL="0">
              <a:lnSpc>
                <a:spcPts val="1500"/>
              </a:lnSpc>
              <a:buNone/>
            </a:pPr>
            <a:r>
              <a:rPr lang="en-US" sz="1100" dirty="0">
                <a:solidFill>
                  <a:srgbClr val="9FB3A6"/>
                </a:solidFill>
                <a:latin typeface="Calibri" pitchFamily="34" charset="0"/>
                <a:ea typeface="Calibri" pitchFamily="34" charset="-122"/>
                <a:cs typeface="Calibri" pitchFamily="34" charset="-120"/>
              </a:rPr>
              <a:t>Shot placement, coverage heatmaps, T-time and a predictability score, with a pose skeleton and a shot type on every strike.</a:t>
            </a:r>
            <a:endParaRPr lang="en-US" sz="1100" dirty="0"/>
          </a:p>
        </p:txBody>
      </p:sp>
      <p:sp>
        <p:nvSpPr>
          <p:cNvPr id="7" name="Shape 5"/>
          <p:cNvSpPr/>
          <p:nvPr/>
        </p:nvSpPr>
        <p:spPr>
          <a:xfrm>
            <a:off x="640080" y="2606040"/>
            <a:ext cx="173736" cy="173736"/>
          </a:xfrm>
          <a:prstGeom prst="ellipse">
            <a:avLst/>
          </a:prstGeom>
          <a:solidFill>
            <a:srgbClr val="7CBF3F"/>
          </a:solidFill>
          <a:ln w="6350">
            <a:solidFill>
              <a:srgbClr val="7CBF3F"/>
            </a:solidFill>
            <a:prstDash val="solid"/>
          </a:ln>
        </p:spPr>
      </p:sp>
      <p:sp>
        <p:nvSpPr>
          <p:cNvPr id="8" name="Text 6"/>
          <p:cNvSpPr/>
          <p:nvPr/>
        </p:nvSpPr>
        <p:spPr>
          <a:xfrm>
            <a:off x="969264" y="2542032"/>
            <a:ext cx="5303520" cy="256032"/>
          </a:xfrm>
          <a:prstGeom prst="rect">
            <a:avLst/>
          </a:prstGeom>
          <a:noFill/>
          <a:ln/>
        </p:spPr>
        <p:txBody>
          <a:bodyPr wrap="square" lIns="0" tIns="0" rIns="0" bIns="0" rtlCol="0" anchor="ctr"/>
          <a:lstStyle/>
          <a:p>
            <a:pPr indent="0" marL="0">
              <a:buNone/>
            </a:pPr>
            <a:r>
              <a:rPr lang="en-US" sz="1350" b="1" dirty="0">
                <a:solidFill>
                  <a:srgbClr val="F4F7F3"/>
                </a:solidFill>
                <a:latin typeface="Calibri" pitchFamily="34" charset="0"/>
                <a:ea typeface="Calibri" pitchFamily="34" charset="-122"/>
                <a:cs typeface="Calibri" pitchFamily="34" charset="-120"/>
              </a:rPr>
              <a:t>Referee</a:t>
            </a:r>
            <a:endParaRPr lang="en-US" sz="1350" dirty="0"/>
          </a:p>
        </p:txBody>
      </p:sp>
      <p:sp>
        <p:nvSpPr>
          <p:cNvPr id="9" name="Text 7"/>
          <p:cNvSpPr/>
          <p:nvPr/>
        </p:nvSpPr>
        <p:spPr>
          <a:xfrm>
            <a:off x="969264" y="2807208"/>
            <a:ext cx="5303520" cy="475488"/>
          </a:xfrm>
          <a:prstGeom prst="rect">
            <a:avLst/>
          </a:prstGeom>
          <a:noFill/>
          <a:ln/>
        </p:spPr>
        <p:txBody>
          <a:bodyPr wrap="square" lIns="0" tIns="0" rIns="0" bIns="0" rtlCol="0" anchor="t"/>
          <a:lstStyle/>
          <a:p>
            <a:pPr indent="0" marL="0">
              <a:lnSpc>
                <a:spcPts val="1500"/>
              </a:lnSpc>
              <a:buNone/>
            </a:pPr>
            <a:r>
              <a:rPr lang="en-US" sz="1100" dirty="0">
                <a:solidFill>
                  <a:srgbClr val="9FB3A6"/>
                </a:solidFill>
                <a:latin typeface="Calibri" pitchFamily="34" charset="0"/>
                <a:ea typeface="Calibri" pitchFamily="34" charset="-122"/>
                <a:cs typeface="Calibri" pitchFamily="34" charset="-120"/>
              </a:rPr>
              <a:t>Watches the court live, proposes the rally winner with a plain-English reason, and always asks before it touches the score.</a:t>
            </a:r>
            <a:endParaRPr lang="en-US" sz="1100" dirty="0"/>
          </a:p>
        </p:txBody>
      </p:sp>
      <p:sp>
        <p:nvSpPr>
          <p:cNvPr id="10" name="Shape 8"/>
          <p:cNvSpPr/>
          <p:nvPr/>
        </p:nvSpPr>
        <p:spPr>
          <a:xfrm>
            <a:off x="640080" y="3410712"/>
            <a:ext cx="173736" cy="173736"/>
          </a:xfrm>
          <a:prstGeom prst="ellipse">
            <a:avLst/>
          </a:prstGeom>
          <a:solidFill>
            <a:srgbClr val="7CBF3F"/>
          </a:solidFill>
          <a:ln w="6350">
            <a:solidFill>
              <a:srgbClr val="7CBF3F"/>
            </a:solidFill>
            <a:prstDash val="solid"/>
          </a:ln>
        </p:spPr>
      </p:sp>
      <p:sp>
        <p:nvSpPr>
          <p:cNvPr id="11" name="Text 9"/>
          <p:cNvSpPr/>
          <p:nvPr/>
        </p:nvSpPr>
        <p:spPr>
          <a:xfrm>
            <a:off x="969264" y="3346704"/>
            <a:ext cx="5303520" cy="256032"/>
          </a:xfrm>
          <a:prstGeom prst="rect">
            <a:avLst/>
          </a:prstGeom>
          <a:noFill/>
          <a:ln/>
        </p:spPr>
        <p:txBody>
          <a:bodyPr wrap="square" lIns="0" tIns="0" rIns="0" bIns="0" rtlCol="0" anchor="ctr"/>
          <a:lstStyle/>
          <a:p>
            <a:pPr indent="0" marL="0">
              <a:buNone/>
            </a:pPr>
            <a:r>
              <a:rPr lang="en-US" sz="1350" b="1" dirty="0">
                <a:solidFill>
                  <a:srgbClr val="F4F7F3"/>
                </a:solidFill>
                <a:latin typeface="Calibri" pitchFamily="34" charset="0"/>
                <a:ea typeface="Calibri" pitchFamily="34" charset="-122"/>
                <a:cs typeface="Calibri" pitchFamily="34" charset="-120"/>
              </a:rPr>
              <a:t>Score keeper</a:t>
            </a:r>
            <a:endParaRPr lang="en-US" sz="1350" dirty="0"/>
          </a:p>
        </p:txBody>
      </p:sp>
      <p:sp>
        <p:nvSpPr>
          <p:cNvPr id="12" name="Text 10"/>
          <p:cNvSpPr/>
          <p:nvPr/>
        </p:nvSpPr>
        <p:spPr>
          <a:xfrm>
            <a:off x="969264" y="3611880"/>
            <a:ext cx="5303520" cy="475488"/>
          </a:xfrm>
          <a:prstGeom prst="rect">
            <a:avLst/>
          </a:prstGeom>
          <a:noFill/>
          <a:ln/>
        </p:spPr>
        <p:txBody>
          <a:bodyPr wrap="square" lIns="0" tIns="0" rIns="0" bIns="0" rtlCol="0" anchor="t"/>
          <a:lstStyle/>
          <a:p>
            <a:pPr indent="0" marL="0">
              <a:lnSpc>
                <a:spcPts val="1500"/>
              </a:lnSpc>
              <a:buNone/>
            </a:pPr>
            <a:r>
              <a:rPr lang="en-US" sz="1100" dirty="0">
                <a:solidFill>
                  <a:srgbClr val="9FB3A6"/>
                </a:solidFill>
                <a:latin typeface="Calibri" pitchFamily="34" charset="0"/>
                <a:ea typeface="Calibri" pitchFamily="34" charset="-122"/>
                <a:cs typeface="Calibri" pitchFamily="34" charset="-120"/>
              </a:rPr>
              <a:t>A PAR-11 board that calls the score out loud in squash convention, handles let / stroke / no-let, and undoes cleanly.</a:t>
            </a:r>
            <a:endParaRPr lang="en-US" sz="1100" dirty="0"/>
          </a:p>
        </p:txBody>
      </p:sp>
      <p:sp>
        <p:nvSpPr>
          <p:cNvPr id="13" name="Shape 11"/>
          <p:cNvSpPr/>
          <p:nvPr/>
        </p:nvSpPr>
        <p:spPr>
          <a:xfrm>
            <a:off x="640080" y="4215384"/>
            <a:ext cx="173736" cy="173736"/>
          </a:xfrm>
          <a:prstGeom prst="ellipse">
            <a:avLst/>
          </a:prstGeom>
          <a:solidFill>
            <a:srgbClr val="7CBF3F"/>
          </a:solidFill>
          <a:ln w="6350">
            <a:solidFill>
              <a:srgbClr val="7CBF3F"/>
            </a:solidFill>
            <a:prstDash val="solid"/>
          </a:ln>
        </p:spPr>
      </p:sp>
      <p:sp>
        <p:nvSpPr>
          <p:cNvPr id="14" name="Text 12"/>
          <p:cNvSpPr/>
          <p:nvPr/>
        </p:nvSpPr>
        <p:spPr>
          <a:xfrm>
            <a:off x="969264" y="4151376"/>
            <a:ext cx="5303520" cy="256032"/>
          </a:xfrm>
          <a:prstGeom prst="rect">
            <a:avLst/>
          </a:prstGeom>
          <a:noFill/>
          <a:ln/>
        </p:spPr>
        <p:txBody>
          <a:bodyPr wrap="square" lIns="0" tIns="0" rIns="0" bIns="0" rtlCol="0" anchor="ctr"/>
          <a:lstStyle/>
          <a:p>
            <a:pPr indent="0" marL="0">
              <a:buNone/>
            </a:pPr>
            <a:r>
              <a:rPr lang="en-US" sz="1350" b="1" dirty="0">
                <a:solidFill>
                  <a:srgbClr val="F4F7F3"/>
                </a:solidFill>
                <a:latin typeface="Calibri" pitchFamily="34" charset="0"/>
                <a:ea typeface="Calibri" pitchFamily="34" charset="-122"/>
                <a:cs typeface="Calibri" pitchFamily="34" charset="-120"/>
              </a:rPr>
              <a:t>Score a video</a:t>
            </a:r>
            <a:endParaRPr lang="en-US" sz="1350" dirty="0"/>
          </a:p>
        </p:txBody>
      </p:sp>
      <p:sp>
        <p:nvSpPr>
          <p:cNvPr id="15" name="Text 13"/>
          <p:cNvSpPr/>
          <p:nvPr/>
        </p:nvSpPr>
        <p:spPr>
          <a:xfrm>
            <a:off x="969264" y="4416552"/>
            <a:ext cx="5303520" cy="475488"/>
          </a:xfrm>
          <a:prstGeom prst="rect">
            <a:avLst/>
          </a:prstGeom>
          <a:noFill/>
          <a:ln/>
        </p:spPr>
        <p:txBody>
          <a:bodyPr wrap="square" lIns="0" tIns="0" rIns="0" bIns="0" rtlCol="0" anchor="t"/>
          <a:lstStyle/>
          <a:p>
            <a:pPr indent="0" marL="0">
              <a:lnSpc>
                <a:spcPts val="1500"/>
              </a:lnSpc>
              <a:buNone/>
            </a:pPr>
            <a:r>
              <a:rPr lang="en-US" sz="1100" dirty="0">
                <a:solidFill>
                  <a:srgbClr val="9FB3A6"/>
                </a:solidFill>
                <a:latin typeface="Calibri" pitchFamily="34" charset="0"/>
                <a:ea typeface="Calibri" pitchFamily="34" charset="-122"/>
                <a:cs typeface="Calibri" pitchFamily="34" charset="-120"/>
              </a:rPr>
              <a:t>The same rally engine run over an already-analysed match in a single pass — autopilot is opt-in and every call is correctable.</a:t>
            </a:r>
            <a:endParaRPr lang="en-US" sz="1100" dirty="0"/>
          </a:p>
        </p:txBody>
      </p:sp>
      <p:sp>
        <p:nvSpPr>
          <p:cNvPr id="16" name="Shape 14"/>
          <p:cNvSpPr/>
          <p:nvPr/>
        </p:nvSpPr>
        <p:spPr>
          <a:xfrm>
            <a:off x="640080" y="5020056"/>
            <a:ext cx="173736" cy="173736"/>
          </a:xfrm>
          <a:prstGeom prst="ellipse">
            <a:avLst/>
          </a:prstGeom>
          <a:solidFill>
            <a:srgbClr val="7CBF3F"/>
          </a:solidFill>
          <a:ln w="6350">
            <a:solidFill>
              <a:srgbClr val="7CBF3F"/>
            </a:solidFill>
            <a:prstDash val="solid"/>
          </a:ln>
        </p:spPr>
      </p:sp>
      <p:sp>
        <p:nvSpPr>
          <p:cNvPr id="17" name="Text 15"/>
          <p:cNvSpPr/>
          <p:nvPr/>
        </p:nvSpPr>
        <p:spPr>
          <a:xfrm>
            <a:off x="969264" y="4956048"/>
            <a:ext cx="5303520" cy="256032"/>
          </a:xfrm>
          <a:prstGeom prst="rect">
            <a:avLst/>
          </a:prstGeom>
          <a:noFill/>
          <a:ln/>
        </p:spPr>
        <p:txBody>
          <a:bodyPr wrap="square" lIns="0" tIns="0" rIns="0" bIns="0" rtlCol="0" anchor="ctr"/>
          <a:lstStyle/>
          <a:p>
            <a:pPr indent="0" marL="0">
              <a:buNone/>
            </a:pPr>
            <a:r>
              <a:rPr lang="en-US" sz="1350" b="1" dirty="0">
                <a:solidFill>
                  <a:srgbClr val="F4F7F3"/>
                </a:solidFill>
                <a:latin typeface="Calibri" pitchFamily="34" charset="0"/>
                <a:ea typeface="Calibri" pitchFamily="34" charset="-122"/>
                <a:cs typeface="Calibri" pitchFamily="34" charset="-120"/>
              </a:rPr>
              <a:t>Film, store, sign in</a:t>
            </a:r>
            <a:endParaRPr lang="en-US" sz="1350" dirty="0"/>
          </a:p>
        </p:txBody>
      </p:sp>
      <p:sp>
        <p:nvSpPr>
          <p:cNvPr id="18" name="Text 16"/>
          <p:cNvSpPr/>
          <p:nvPr/>
        </p:nvSpPr>
        <p:spPr>
          <a:xfrm>
            <a:off x="969264" y="5221224"/>
            <a:ext cx="5303520" cy="475488"/>
          </a:xfrm>
          <a:prstGeom prst="rect">
            <a:avLst/>
          </a:prstGeom>
          <a:noFill/>
          <a:ln/>
        </p:spPr>
        <p:txBody>
          <a:bodyPr wrap="square" lIns="0" tIns="0" rIns="0" bIns="0" rtlCol="0" anchor="t"/>
          <a:lstStyle/>
          <a:p>
            <a:pPr indent="0" marL="0">
              <a:lnSpc>
                <a:spcPts val="1500"/>
              </a:lnSpc>
              <a:buNone/>
            </a:pPr>
            <a:r>
              <a:rPr lang="en-US" sz="1100" dirty="0">
                <a:solidFill>
                  <a:srgbClr val="9FB3A6"/>
                </a:solidFill>
                <a:latin typeface="Calibri" pitchFamily="34" charset="0"/>
                <a:ea typeface="Calibri" pitchFamily="34" charset="-122"/>
                <a:cs typeface="Calibri" pitchFamily="34" charset="-120"/>
              </a:rPr>
              <a:t>Record on a phone or a laptop, matches survive a reload, and accounts plus the paywall now gate both clients.</a:t>
            </a:r>
            <a:endParaRPr lang="en-US" sz="1100" dirty="0"/>
          </a:p>
        </p:txBody>
      </p:sp>
      <p:sp>
        <p:nvSpPr>
          <p:cNvPr id="19" name="Shape 17"/>
          <p:cNvSpPr/>
          <p:nvPr/>
        </p:nvSpPr>
        <p:spPr>
          <a:xfrm>
            <a:off x="6675120" y="2057400"/>
            <a:ext cx="4892040" cy="3163824"/>
          </a:xfrm>
          <a:prstGeom prst="roundRect">
            <a:avLst>
              <a:gd name="adj" fmla="val 2312"/>
            </a:avLst>
          </a:prstGeom>
          <a:solidFill>
            <a:srgbClr val="0C1F17"/>
          </a:solidFill>
          <a:ln w="9525">
            <a:solidFill>
              <a:srgbClr val="1C3B2C"/>
            </a:solidFill>
            <a:prstDash val="solid"/>
          </a:ln>
        </p:spPr>
      </p:sp>
      <p:pic>
        <p:nvPicPr>
          <p:cNvPr id="20" name="Image 0" descr="/Users/karanvirkhanna/RacquetAI/reports/screenshots/2026-08-21/04-referee.png">    </p:cNvPr>
          <p:cNvPicPr>
            <a:picLocks noChangeAspect="1"/>
          </p:cNvPicPr>
          <p:nvPr/>
        </p:nvPicPr>
        <p:blipFill>
          <a:blip r:embed="rId1"/>
          <a:stretch>
            <a:fillRect/>
          </a:stretch>
        </p:blipFill>
        <p:spPr>
          <a:xfrm>
            <a:off x="6812280" y="2194560"/>
            <a:ext cx="4617720" cy="2885846"/>
          </a:xfrm>
          <a:prstGeom prst="rect">
            <a:avLst/>
          </a:prstGeom>
        </p:spPr>
      </p:pic>
      <p:sp>
        <p:nvSpPr>
          <p:cNvPr id="21" name="Text 18"/>
          <p:cNvSpPr/>
          <p:nvPr/>
        </p:nvSpPr>
        <p:spPr>
          <a:xfrm>
            <a:off x="6675120" y="5349240"/>
            <a:ext cx="4892040" cy="566928"/>
          </a:xfrm>
          <a:prstGeom prst="rect">
            <a:avLst/>
          </a:prstGeom>
          <a:noFill/>
          <a:ln/>
        </p:spPr>
        <p:txBody>
          <a:bodyPr wrap="square" lIns="0" tIns="0" rIns="0" bIns="0" rtlCol="0" anchor="t"/>
          <a:lstStyle/>
          <a:p>
            <a:pPr indent="0" marL="0">
              <a:lnSpc>
                <a:spcPts val="1400"/>
              </a:lnSpc>
              <a:buNone/>
            </a:pPr>
            <a:r>
              <a:rPr lang="en-US" sz="1000" i="1" dirty="0">
                <a:solidFill>
                  <a:srgbClr val="70857A"/>
                </a:solidFill>
                <a:latin typeface="Calibri" pitchFamily="34" charset="0"/>
                <a:ea typeface="Calibri" pitchFamily="34" charset="-122"/>
                <a:cs typeface="Calibri" pitchFamily="34" charset="-120"/>
              </a:rPr>
              <a:t>The referee calling a real tie-break: “Hand out. Ten all, a player must win by two points.”</a:t>
            </a:r>
            <a:endParaRPr lang="en-US" sz="1000" dirty="0"/>
          </a:p>
        </p:txBody>
      </p:sp>
      <p:sp>
        <p:nvSpPr>
          <p:cNvPr id="22" name="Text 19"/>
          <p:cNvSpPr/>
          <p:nvPr/>
        </p:nvSpPr>
        <p:spPr>
          <a:xfrm>
            <a:off x="10881360" y="6172200"/>
            <a:ext cx="667512" cy="237744"/>
          </a:xfrm>
          <a:prstGeom prst="rect">
            <a:avLst/>
          </a:prstGeom>
          <a:noFill/>
          <a:ln/>
        </p:spPr>
        <p:txBody>
          <a:bodyPr wrap="square" lIns="0" tIns="0" rIns="0" bIns="0" rtlCol="0" anchor="ctr"/>
          <a:lstStyle/>
          <a:p>
            <a:pPr algn="r" indent="0" marL="0">
              <a:buNone/>
            </a:pPr>
            <a:r>
              <a:rPr lang="en-US" sz="1000" dirty="0">
                <a:solidFill>
                  <a:srgbClr val="70857A"/>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30E"/>
        </a:solidFill>
      </p:bgPr>
    </p:bg>
    <p:spTree>
      <p:nvGrpSpPr>
        <p:cNvPr id="1" name=""/>
        <p:cNvGrpSpPr/>
        <p:nvPr/>
      </p:nvGrpSpPr>
      <p:grpSpPr>
        <a:xfrm>
          <a:off x="0" y="0"/>
          <a:ext cx="0" cy="0"/>
          <a:chOff x="0" y="0"/>
          <a:chExt cx="0" cy="0"/>
        </a:xfrm>
      </p:grpSpPr>
      <p:sp>
        <p:nvSpPr>
          <p:cNvPr id="2" name="Text 0"/>
          <p:cNvSpPr/>
          <p:nvPr/>
        </p:nvSpPr>
        <p:spPr>
          <a:xfrm>
            <a:off x="640080" y="548640"/>
            <a:ext cx="10908792" cy="566928"/>
          </a:xfrm>
          <a:prstGeom prst="rect">
            <a:avLst/>
          </a:prstGeom>
          <a:noFill/>
          <a:ln/>
        </p:spPr>
        <p:txBody>
          <a:bodyPr wrap="square" lIns="0" tIns="0" rIns="0" bIns="0" rtlCol="0" anchor="ctr"/>
          <a:lstStyle/>
          <a:p>
            <a:pPr indent="0" marL="0">
              <a:buNone/>
            </a:pPr>
            <a:r>
              <a:rPr lang="en-US" sz="3200" b="1" dirty="0">
                <a:solidFill>
                  <a:srgbClr val="F4F7F3"/>
                </a:solidFill>
                <a:latin typeface="Arial" pitchFamily="34" charset="0"/>
                <a:ea typeface="Arial" pitchFamily="34" charset="-122"/>
                <a:cs typeface="Arial" pitchFamily="34" charset="-120"/>
              </a:rPr>
              <a:t>Accuracy: hand-labelled first, then measured</a:t>
            </a:r>
            <a:endParaRPr lang="en-US" sz="3200" dirty="0"/>
          </a:p>
        </p:txBody>
      </p:sp>
      <p:sp>
        <p:nvSpPr>
          <p:cNvPr id="3" name="Text 1"/>
          <p:cNvSpPr/>
          <p:nvPr/>
        </p:nvSpPr>
        <p:spPr>
          <a:xfrm>
            <a:off x="640080" y="1152144"/>
            <a:ext cx="10543032" cy="402336"/>
          </a:xfrm>
          <a:prstGeom prst="rect">
            <a:avLst/>
          </a:prstGeom>
          <a:noFill/>
          <a:ln/>
        </p:spPr>
        <p:txBody>
          <a:bodyPr wrap="square" lIns="0" tIns="0" rIns="0" bIns="0" rtlCol="0" anchor="t"/>
          <a:lstStyle/>
          <a:p>
            <a:pPr indent="0" marL="0">
              <a:buNone/>
            </a:pPr>
            <a:r>
              <a:rPr lang="en-US" sz="1300" dirty="0">
                <a:solidFill>
                  <a:srgbClr val="9FB3A6"/>
                </a:solidFill>
                <a:latin typeface="Calibri" pitchFamily="34" charset="0"/>
                <a:ea typeface="Calibri" pitchFamily="34" charset="-122"/>
                <a:cs typeface="Calibri" pitchFamily="34" charset="-120"/>
              </a:rPr>
              <a:t>None of these are vendor numbers. Ground truth was labelled by hand before the code was written, and every figure below is what the shipped engine scored against it.</a:t>
            </a:r>
            <a:endParaRPr lang="en-US" sz="1300" dirty="0"/>
          </a:p>
        </p:txBody>
      </p:sp>
      <p:graphicFrame>
        <p:nvGraphicFramePr>
          <p:cNvPr id="4" name="Chart 0" descr=""/>
          <p:cNvGraphicFramePr/>
          <p:nvPr/>
        </p:nvGraphicFramePr>
        <p:xfrm>
          <a:off x="640080" y="178308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35040" y="1783080"/>
            <a:ext cx="5513832" cy="987552"/>
          </a:xfrm>
          <a:prstGeom prst="roundRect">
            <a:avLst>
              <a:gd name="adj" fmla="val 7407"/>
            </a:avLst>
          </a:prstGeom>
          <a:solidFill>
            <a:srgbClr val="0C1F17"/>
          </a:solidFill>
          <a:ln w="9525">
            <a:solidFill>
              <a:srgbClr val="1C3B2C"/>
            </a:solidFill>
            <a:prstDash val="solid"/>
          </a:ln>
        </p:spPr>
      </p:sp>
      <p:sp>
        <p:nvSpPr>
          <p:cNvPr id="6" name="Text 3"/>
          <p:cNvSpPr/>
          <p:nvPr/>
        </p:nvSpPr>
        <p:spPr>
          <a:xfrm>
            <a:off x="6263640" y="1892808"/>
            <a:ext cx="5029200" cy="219456"/>
          </a:xfrm>
          <a:prstGeom prst="rect">
            <a:avLst/>
          </a:prstGeom>
          <a:noFill/>
          <a:ln/>
        </p:spPr>
        <p:txBody>
          <a:bodyPr wrap="square" lIns="0" tIns="0" rIns="0" bIns="0" rtlCol="0" anchor="ctr"/>
          <a:lstStyle/>
          <a:p>
            <a:pPr indent="0" marL="0">
              <a:buNone/>
            </a:pPr>
            <a:r>
              <a:rPr lang="en-US" sz="1050" b="1" spc="200" kern="0" dirty="0">
                <a:solidFill>
                  <a:srgbClr val="A6D47D"/>
                </a:solidFill>
                <a:latin typeface="Calibri" pitchFamily="34" charset="0"/>
                <a:ea typeface="Calibri" pitchFamily="34" charset="-122"/>
                <a:cs typeface="Calibri" pitchFamily="34" charset="-120"/>
              </a:rPr>
              <a:t>PLAYER IDENTITY</a:t>
            </a:r>
            <a:endParaRPr lang="en-US" sz="1050" dirty="0"/>
          </a:p>
        </p:txBody>
      </p:sp>
      <p:sp>
        <p:nvSpPr>
          <p:cNvPr id="7" name="Text 4"/>
          <p:cNvSpPr/>
          <p:nvPr/>
        </p:nvSpPr>
        <p:spPr>
          <a:xfrm>
            <a:off x="6263640" y="2084832"/>
            <a:ext cx="5029200" cy="256032"/>
          </a:xfrm>
          <a:prstGeom prst="rect">
            <a:avLst/>
          </a:prstGeom>
          <a:noFill/>
          <a:ln/>
        </p:spPr>
        <p:txBody>
          <a:bodyPr wrap="square" lIns="0" tIns="0" rIns="0" bIns="0" rtlCol="0" anchor="ctr"/>
          <a:lstStyle/>
          <a:p>
            <a:pPr indent="0" marL="0">
              <a:buNone/>
            </a:pPr>
            <a:r>
              <a:rPr lang="en-US" sz="1500" b="1" dirty="0">
                <a:solidFill>
                  <a:srgbClr val="F4F7F3"/>
                </a:solidFill>
                <a:latin typeface="Arial" pitchFamily="34" charset="0"/>
                <a:ea typeface="Arial" pitchFamily="34" charset="-122"/>
                <a:cs typeface="Arial" pitchFamily="34" charset="-120"/>
              </a:rPr>
              <a:t>46.4%  →  2.1% mislabelled</a:t>
            </a:r>
            <a:endParaRPr lang="en-US" sz="1500" dirty="0"/>
          </a:p>
        </p:txBody>
      </p:sp>
      <p:sp>
        <p:nvSpPr>
          <p:cNvPr id="8" name="Text 5"/>
          <p:cNvSpPr/>
          <p:nvPr/>
        </p:nvSpPr>
        <p:spPr>
          <a:xfrm>
            <a:off x="6263640" y="2350008"/>
            <a:ext cx="5074920" cy="365760"/>
          </a:xfrm>
          <a:prstGeom prst="rect">
            <a:avLst/>
          </a:prstGeom>
          <a:noFill/>
          <a:ln/>
        </p:spPr>
        <p:txBody>
          <a:bodyPr wrap="square" lIns="0" tIns="0" rIns="0" bIns="0" rtlCol="0" anchor="t"/>
          <a:lstStyle/>
          <a:p>
            <a:pPr indent="0" marL="0">
              <a:lnSpc>
                <a:spcPts val="1200"/>
              </a:lnSpc>
              <a:buNone/>
            </a:pPr>
            <a:r>
              <a:rPr lang="en-US" sz="950" dirty="0">
                <a:solidFill>
                  <a:srgbClr val="9FB3A6"/>
                </a:solidFill>
                <a:latin typeface="Calibri" pitchFamily="34" charset="0"/>
                <a:ea typeface="Calibri" pitchFamily="34" charset="-122"/>
                <a:cs typeface="Calibri" pitchFamily="34" charset="-120"/>
              </a:rPr>
              <a:t>379 samples across three matches. Appearance re-ID on a torso patch replaced position-only tracking; 59 identity flips became 13.</a:t>
            </a:r>
            <a:endParaRPr lang="en-US" sz="950" dirty="0"/>
          </a:p>
        </p:txBody>
      </p:sp>
      <p:sp>
        <p:nvSpPr>
          <p:cNvPr id="9" name="Shape 6"/>
          <p:cNvSpPr/>
          <p:nvPr/>
        </p:nvSpPr>
        <p:spPr>
          <a:xfrm>
            <a:off x="6035040" y="2889504"/>
            <a:ext cx="5513832" cy="987552"/>
          </a:xfrm>
          <a:prstGeom prst="roundRect">
            <a:avLst>
              <a:gd name="adj" fmla="val 7407"/>
            </a:avLst>
          </a:prstGeom>
          <a:solidFill>
            <a:srgbClr val="0C1F17"/>
          </a:solidFill>
          <a:ln w="9525">
            <a:solidFill>
              <a:srgbClr val="1C3B2C"/>
            </a:solidFill>
            <a:prstDash val="solid"/>
          </a:ln>
        </p:spPr>
      </p:sp>
      <p:sp>
        <p:nvSpPr>
          <p:cNvPr id="10" name="Text 7"/>
          <p:cNvSpPr/>
          <p:nvPr/>
        </p:nvSpPr>
        <p:spPr>
          <a:xfrm>
            <a:off x="6263640" y="2999232"/>
            <a:ext cx="5029200" cy="219456"/>
          </a:xfrm>
          <a:prstGeom prst="rect">
            <a:avLst/>
          </a:prstGeom>
          <a:noFill/>
          <a:ln/>
        </p:spPr>
        <p:txBody>
          <a:bodyPr wrap="square" lIns="0" tIns="0" rIns="0" bIns="0" rtlCol="0" anchor="ctr"/>
          <a:lstStyle/>
          <a:p>
            <a:pPr indent="0" marL="0">
              <a:buNone/>
            </a:pPr>
            <a:r>
              <a:rPr lang="en-US" sz="1050" b="1" spc="200" kern="0" dirty="0">
                <a:solidFill>
                  <a:srgbClr val="A6D47D"/>
                </a:solidFill>
                <a:latin typeface="Calibri" pitchFamily="34" charset="0"/>
                <a:ea typeface="Calibri" pitchFamily="34" charset="-122"/>
                <a:cs typeface="Calibri" pitchFamily="34" charset="-120"/>
              </a:rPr>
              <a:t>SHOT DETECTION</a:t>
            </a:r>
            <a:endParaRPr lang="en-US" sz="1050" dirty="0"/>
          </a:p>
        </p:txBody>
      </p:sp>
      <p:sp>
        <p:nvSpPr>
          <p:cNvPr id="11" name="Text 8"/>
          <p:cNvSpPr/>
          <p:nvPr/>
        </p:nvSpPr>
        <p:spPr>
          <a:xfrm>
            <a:off x="6263640" y="3191256"/>
            <a:ext cx="5029200" cy="256032"/>
          </a:xfrm>
          <a:prstGeom prst="rect">
            <a:avLst/>
          </a:prstGeom>
          <a:noFill/>
          <a:ln/>
        </p:spPr>
        <p:txBody>
          <a:bodyPr wrap="square" lIns="0" tIns="0" rIns="0" bIns="0" rtlCol="0" anchor="ctr"/>
          <a:lstStyle/>
          <a:p>
            <a:pPr indent="0" marL="0">
              <a:buNone/>
            </a:pPr>
            <a:r>
              <a:rPr lang="en-US" sz="1500" b="1" dirty="0">
                <a:solidFill>
                  <a:srgbClr val="F4F7F3"/>
                </a:solidFill>
                <a:latin typeface="Arial" pitchFamily="34" charset="0"/>
                <a:ea typeface="Arial" pitchFamily="34" charset="-122"/>
                <a:cs typeface="Arial" pitchFamily="34" charset="-120"/>
              </a:rPr>
              <a:t>41.1%  →  71.0% precision</a:t>
            </a:r>
            <a:endParaRPr lang="en-US" sz="1500" dirty="0"/>
          </a:p>
        </p:txBody>
      </p:sp>
      <p:sp>
        <p:nvSpPr>
          <p:cNvPr id="12" name="Text 9"/>
          <p:cNvSpPr/>
          <p:nvPr/>
        </p:nvSpPr>
        <p:spPr>
          <a:xfrm>
            <a:off x="6263640" y="3456432"/>
            <a:ext cx="5074920" cy="365760"/>
          </a:xfrm>
          <a:prstGeom prst="rect">
            <a:avLst/>
          </a:prstGeom>
          <a:noFill/>
          <a:ln/>
        </p:spPr>
        <p:txBody>
          <a:bodyPr wrap="square" lIns="0" tIns="0" rIns="0" bIns="0" rtlCol="0" anchor="t"/>
          <a:lstStyle/>
          <a:p>
            <a:pPr indent="0" marL="0">
              <a:lnSpc>
                <a:spcPts val="1200"/>
              </a:lnSpc>
              <a:buNone/>
            </a:pPr>
            <a:r>
              <a:rPr lang="en-US" sz="950" dirty="0">
                <a:solidFill>
                  <a:srgbClr val="9FB3A6"/>
                </a:solidFill>
                <a:latin typeface="Calibri" pitchFamily="34" charset="0"/>
                <a:ea typeface="Calibri" pitchFamily="34" charset="-122"/>
                <a:cs typeface="Calibri" pitchFamily="34" charset="-120"/>
              </a:rPr>
              <a:t>Recall held at 86.4%, F1 0.557 → 0.779. The false positives were real strikes — from the neighbouring courts.</a:t>
            </a:r>
            <a:endParaRPr lang="en-US" sz="950" dirty="0"/>
          </a:p>
        </p:txBody>
      </p:sp>
      <p:sp>
        <p:nvSpPr>
          <p:cNvPr id="13" name="Shape 10"/>
          <p:cNvSpPr/>
          <p:nvPr/>
        </p:nvSpPr>
        <p:spPr>
          <a:xfrm>
            <a:off x="6035040" y="3995928"/>
            <a:ext cx="5513832" cy="987552"/>
          </a:xfrm>
          <a:prstGeom prst="roundRect">
            <a:avLst>
              <a:gd name="adj" fmla="val 7407"/>
            </a:avLst>
          </a:prstGeom>
          <a:solidFill>
            <a:srgbClr val="0C1F17"/>
          </a:solidFill>
          <a:ln w="9525">
            <a:solidFill>
              <a:srgbClr val="1C3B2C"/>
            </a:solidFill>
            <a:prstDash val="solid"/>
          </a:ln>
        </p:spPr>
      </p:sp>
      <p:sp>
        <p:nvSpPr>
          <p:cNvPr id="14" name="Text 11"/>
          <p:cNvSpPr/>
          <p:nvPr/>
        </p:nvSpPr>
        <p:spPr>
          <a:xfrm>
            <a:off x="6263640" y="4105656"/>
            <a:ext cx="5029200" cy="219456"/>
          </a:xfrm>
          <a:prstGeom prst="rect">
            <a:avLst/>
          </a:prstGeom>
          <a:noFill/>
          <a:ln/>
        </p:spPr>
        <p:txBody>
          <a:bodyPr wrap="square" lIns="0" tIns="0" rIns="0" bIns="0" rtlCol="0" anchor="ctr"/>
          <a:lstStyle/>
          <a:p>
            <a:pPr indent="0" marL="0">
              <a:buNone/>
            </a:pPr>
            <a:r>
              <a:rPr lang="en-US" sz="1050" b="1" spc="200" kern="0" dirty="0">
                <a:solidFill>
                  <a:srgbClr val="A6D47D"/>
                </a:solidFill>
                <a:latin typeface="Calibri" pitchFamily="34" charset="0"/>
                <a:ea typeface="Calibri" pitchFamily="34" charset="-122"/>
                <a:cs typeface="Calibri" pitchFamily="34" charset="-120"/>
              </a:rPr>
              <a:t>RALLY WINNER</a:t>
            </a:r>
            <a:endParaRPr lang="en-US" sz="1050" dirty="0"/>
          </a:p>
        </p:txBody>
      </p:sp>
      <p:sp>
        <p:nvSpPr>
          <p:cNvPr id="15" name="Text 12"/>
          <p:cNvSpPr/>
          <p:nvPr/>
        </p:nvSpPr>
        <p:spPr>
          <a:xfrm>
            <a:off x="6263640" y="4297680"/>
            <a:ext cx="5029200" cy="256032"/>
          </a:xfrm>
          <a:prstGeom prst="rect">
            <a:avLst/>
          </a:prstGeom>
          <a:noFill/>
          <a:ln/>
        </p:spPr>
        <p:txBody>
          <a:bodyPr wrap="square" lIns="0" tIns="0" rIns="0" bIns="0" rtlCol="0" anchor="ctr"/>
          <a:lstStyle/>
          <a:p>
            <a:pPr indent="0" marL="0">
              <a:buNone/>
            </a:pPr>
            <a:r>
              <a:rPr lang="en-US" sz="1500" b="1" dirty="0">
                <a:solidFill>
                  <a:srgbClr val="F4F7F3"/>
                </a:solidFill>
                <a:latin typeface="Arial" pitchFamily="34" charset="0"/>
                <a:ea typeface="Arial" pitchFamily="34" charset="-122"/>
                <a:cs typeface="Arial" pitchFamily="34" charset="-120"/>
              </a:rPr>
              <a:t>72.7% oracle ceiling</a:t>
            </a:r>
            <a:endParaRPr lang="en-US" sz="1500" dirty="0"/>
          </a:p>
        </p:txBody>
      </p:sp>
      <p:sp>
        <p:nvSpPr>
          <p:cNvPr id="16" name="Text 13"/>
          <p:cNvSpPr/>
          <p:nvPr/>
        </p:nvSpPr>
        <p:spPr>
          <a:xfrm>
            <a:off x="6263640" y="4562856"/>
            <a:ext cx="5074920" cy="365760"/>
          </a:xfrm>
          <a:prstGeom prst="rect">
            <a:avLst/>
          </a:prstGeom>
          <a:noFill/>
          <a:ln/>
        </p:spPr>
        <p:txBody>
          <a:bodyPr wrap="square" lIns="0" tIns="0" rIns="0" bIns="0" rtlCol="0" anchor="t"/>
          <a:lstStyle/>
          <a:p>
            <a:pPr indent="0" marL="0">
              <a:lnSpc>
                <a:spcPts val="1200"/>
              </a:lnSpc>
              <a:buNone/>
            </a:pPr>
            <a:r>
              <a:rPr lang="en-US" sz="950" dirty="0">
                <a:solidFill>
                  <a:srgbClr val="9FB3A6"/>
                </a:solidFill>
                <a:latin typeface="Calibri" pitchFamily="34" charset="0"/>
                <a:ea typeface="Calibri" pitchFamily="34" charset="-122"/>
                <a:cs typeface="Calibri" pitchFamily="34" charset="-120"/>
              </a:rPr>
              <a:t>Measured, not assumed. At that ceiling a silent auto-confirm is worse than no referee, so the app proposes and always asks.</a:t>
            </a:r>
            <a:endParaRPr lang="en-US" sz="950" dirty="0"/>
          </a:p>
        </p:txBody>
      </p:sp>
      <p:sp>
        <p:nvSpPr>
          <p:cNvPr id="17" name="Shape 14"/>
          <p:cNvSpPr/>
          <p:nvPr/>
        </p:nvSpPr>
        <p:spPr>
          <a:xfrm>
            <a:off x="640080" y="5166360"/>
            <a:ext cx="10908792" cy="822960"/>
          </a:xfrm>
          <a:prstGeom prst="roundRect">
            <a:avLst>
              <a:gd name="adj" fmla="val 8889"/>
            </a:avLst>
          </a:prstGeom>
          <a:solidFill>
            <a:srgbClr val="0F2A1F"/>
          </a:solidFill>
          <a:ln w="9525">
            <a:solidFill>
              <a:srgbClr val="1C3B2C"/>
            </a:solidFill>
            <a:prstDash val="solid"/>
          </a:ln>
        </p:spPr>
      </p:sp>
      <p:sp>
        <p:nvSpPr>
          <p:cNvPr id="18" name="Text 15"/>
          <p:cNvSpPr/>
          <p:nvPr/>
        </p:nvSpPr>
        <p:spPr>
          <a:xfrm>
            <a:off x="868680" y="5285232"/>
            <a:ext cx="10451592" cy="603504"/>
          </a:xfrm>
          <a:prstGeom prst="rect">
            <a:avLst/>
          </a:prstGeom>
          <a:noFill/>
          <a:ln/>
        </p:spPr>
        <p:txBody>
          <a:bodyPr wrap="square" lIns="0" tIns="0" rIns="0" bIns="0" rtlCol="0" anchor="t"/>
          <a:lstStyle/>
          <a:p>
            <a:pPr indent="0" marL="0">
              <a:lnSpc>
                <a:spcPts val="1400"/>
              </a:lnSpc>
              <a:buNone/>
            </a:pPr>
            <a:r>
              <a:rPr lang="en-US" sz="1050" b="1" dirty="0">
                <a:solidFill>
                  <a:srgbClr val="A6D47D"/>
                </a:solidFill>
                <a:latin typeface="Calibri" pitchFamily="34" charset="0"/>
                <a:ea typeface="Calibri" pitchFamily="34" charset="-122"/>
                <a:cs typeface="Calibri" pitchFamily="34" charset="-120"/>
              </a:rPr>
              <a:t>Ball tracking: measured, then not built.  </a:t>
            </a:r>
            <a:pPr indent="0" marL="0">
              <a:lnSpc>
                <a:spcPts val="1400"/>
              </a:lnSpc>
              <a:buNone/>
            </a:pPr>
            <a:r>
              <a:rPr lang="en-US" sz="1050" dirty="0">
                <a:solidFill>
                  <a:srgbClr val="9FB3A6"/>
                </a:solidFill>
                <a:latin typeface="Calibri" pitchFamily="34" charset="0"/>
                <a:ea typeface="Calibri" pitchFamily="34" charset="-122"/>
                <a:cs typeface="Calibri" pitchFamily="34" charset="-120"/>
              </a:rPr>
              <a:t>The detector landed 44.1% of visible frames within 5 px — real, and statistically significant. But a bounce needs about six consecutive positions to fit, and across 84 frames of live play there was exactly one such run. The limit is the camera, not the algorithm, so nothing shipped.</a:t>
            </a:r>
            <a:endParaRPr lang="en-US" sz="1050" dirty="0"/>
          </a:p>
        </p:txBody>
      </p:sp>
      <p:sp>
        <p:nvSpPr>
          <p:cNvPr id="19" name="Text 16"/>
          <p:cNvSpPr/>
          <p:nvPr/>
        </p:nvSpPr>
        <p:spPr>
          <a:xfrm>
            <a:off x="10881360" y="6172200"/>
            <a:ext cx="667512" cy="237744"/>
          </a:xfrm>
          <a:prstGeom prst="rect">
            <a:avLst/>
          </a:prstGeom>
          <a:noFill/>
          <a:ln/>
        </p:spPr>
        <p:txBody>
          <a:bodyPr wrap="square" lIns="0" tIns="0" rIns="0" bIns="0" rtlCol="0" anchor="ctr"/>
          <a:lstStyle/>
          <a:p>
            <a:pPr algn="r" indent="0" marL="0">
              <a:buNone/>
            </a:pPr>
            <a:r>
              <a:rPr lang="en-US" sz="1000" dirty="0">
                <a:solidFill>
                  <a:srgbClr val="70857A"/>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130E"/>
        </a:solidFill>
      </p:bgPr>
    </p:bg>
    <p:spTree>
      <p:nvGrpSpPr>
        <p:cNvPr id="1" name=""/>
        <p:cNvGrpSpPr/>
        <p:nvPr/>
      </p:nvGrpSpPr>
      <p:grpSpPr>
        <a:xfrm>
          <a:off x="0" y="0"/>
          <a:ext cx="0" cy="0"/>
          <a:chOff x="0" y="0"/>
          <a:chExt cx="0" cy="0"/>
        </a:xfrm>
      </p:grpSpPr>
      <p:sp>
        <p:nvSpPr>
          <p:cNvPr id="2" name="Text 0"/>
          <p:cNvSpPr/>
          <p:nvPr/>
        </p:nvSpPr>
        <p:spPr>
          <a:xfrm>
            <a:off x="640080" y="548640"/>
            <a:ext cx="10908792" cy="566928"/>
          </a:xfrm>
          <a:prstGeom prst="rect">
            <a:avLst/>
          </a:prstGeom>
          <a:noFill/>
          <a:ln/>
        </p:spPr>
        <p:txBody>
          <a:bodyPr wrap="square" lIns="0" tIns="0" rIns="0" bIns="0" rtlCol="0" anchor="ctr"/>
          <a:lstStyle/>
          <a:p>
            <a:pPr indent="0" marL="0">
              <a:buNone/>
            </a:pPr>
            <a:r>
              <a:rPr lang="en-US" sz="3200" b="1" dirty="0">
                <a:solidFill>
                  <a:srgbClr val="F4F7F3"/>
                </a:solidFill>
                <a:latin typeface="Arial" pitchFamily="34" charset="0"/>
                <a:ea typeface="Arial" pitchFamily="34" charset="-122"/>
                <a:cs typeface="Arial" pitchFamily="34" charset="-120"/>
              </a:rPr>
              <a:t>The stack underneath it</a:t>
            </a:r>
            <a:endParaRPr lang="en-US" sz="3200" dirty="0"/>
          </a:p>
        </p:txBody>
      </p:sp>
      <p:sp>
        <p:nvSpPr>
          <p:cNvPr id="3" name="Text 1"/>
          <p:cNvSpPr/>
          <p:nvPr/>
        </p:nvSpPr>
        <p:spPr>
          <a:xfrm>
            <a:off x="640080" y="1152144"/>
            <a:ext cx="10543032" cy="402336"/>
          </a:xfrm>
          <a:prstGeom prst="rect">
            <a:avLst/>
          </a:prstGeom>
          <a:noFill/>
          <a:ln/>
        </p:spPr>
        <p:txBody>
          <a:bodyPr wrap="square" lIns="0" tIns="0" rIns="0" bIns="0" rtlCol="0" anchor="t"/>
          <a:lstStyle/>
          <a:p>
            <a:pPr indent="0" marL="0">
              <a:buNone/>
            </a:pPr>
            <a:r>
              <a:rPr lang="en-US" sz="1300" dirty="0">
                <a:solidFill>
                  <a:srgbClr val="9FB3A6"/>
                </a:solidFill>
                <a:latin typeface="Calibri" pitchFamily="34" charset="0"/>
                <a:ea typeface="Calibri" pitchFamily="34" charset="-122"/>
                <a:cs typeface="Calibri" pitchFamily="34" charset="-120"/>
              </a:rPr>
              <a:t>One data contract (analysis.json, schema v2) shared by four layers that ship independently.</a:t>
            </a:r>
            <a:endParaRPr lang="en-US" sz="1300" dirty="0"/>
          </a:p>
        </p:txBody>
      </p:sp>
      <p:sp>
        <p:nvSpPr>
          <p:cNvPr id="4" name="Shape 2"/>
          <p:cNvSpPr/>
          <p:nvPr/>
        </p:nvSpPr>
        <p:spPr>
          <a:xfrm>
            <a:off x="640080" y="1691640"/>
            <a:ext cx="10908792" cy="1005840"/>
          </a:xfrm>
          <a:prstGeom prst="roundRect">
            <a:avLst>
              <a:gd name="adj" fmla="val 7273"/>
            </a:avLst>
          </a:prstGeom>
          <a:solidFill>
            <a:srgbClr val="0C1F17"/>
          </a:solidFill>
          <a:ln w="9525">
            <a:solidFill>
              <a:srgbClr val="1C3B2C"/>
            </a:solidFill>
            <a:prstDash val="solid"/>
          </a:ln>
        </p:spPr>
      </p:sp>
      <p:sp>
        <p:nvSpPr>
          <p:cNvPr id="5" name="Text 3"/>
          <p:cNvSpPr/>
          <p:nvPr/>
        </p:nvSpPr>
        <p:spPr>
          <a:xfrm>
            <a:off x="868680" y="1856232"/>
            <a:ext cx="1828800" cy="274320"/>
          </a:xfrm>
          <a:prstGeom prst="rect">
            <a:avLst/>
          </a:prstGeom>
          <a:noFill/>
          <a:ln/>
        </p:spPr>
        <p:txBody>
          <a:bodyPr wrap="square" lIns="0" tIns="0" rIns="0" bIns="0" rtlCol="0" anchor="ctr"/>
          <a:lstStyle/>
          <a:p>
            <a:pPr indent="0" marL="0">
              <a:buNone/>
            </a:pPr>
            <a:r>
              <a:rPr lang="en-US" sz="1150" b="1" spc="120" kern="0" dirty="0">
                <a:solidFill>
                  <a:srgbClr val="7CBF3F"/>
                </a:solidFill>
                <a:latin typeface="Calibri" pitchFamily="34" charset="0"/>
                <a:ea typeface="Calibri" pitchFamily="34" charset="-122"/>
                <a:cs typeface="Calibri" pitchFamily="34" charset="-120"/>
              </a:rPr>
              <a:t>CLIENTS</a:t>
            </a:r>
            <a:endParaRPr lang="en-US" sz="1150" dirty="0"/>
          </a:p>
        </p:txBody>
      </p:sp>
      <p:sp>
        <p:nvSpPr>
          <p:cNvPr id="6" name="Text 4"/>
          <p:cNvSpPr/>
          <p:nvPr/>
        </p:nvSpPr>
        <p:spPr>
          <a:xfrm>
            <a:off x="2788920" y="1865376"/>
            <a:ext cx="8458200" cy="731520"/>
          </a:xfrm>
          <a:prstGeom prst="rect">
            <a:avLst/>
          </a:prstGeom>
          <a:noFill/>
          <a:ln/>
        </p:spPr>
        <p:txBody>
          <a:bodyPr wrap="square" lIns="0" tIns="0" rIns="0" bIns="0" rtlCol="0" anchor="t"/>
          <a:lstStyle/>
          <a:p>
            <a:pPr indent="0" marL="0">
              <a:lnSpc>
                <a:spcPts val="1500"/>
              </a:lnSpc>
              <a:buNone/>
            </a:pPr>
            <a:r>
              <a:rPr lang="en-US" sz="1100" dirty="0">
                <a:solidFill>
                  <a:srgbClr val="9FB3A6"/>
                </a:solidFill>
                <a:latin typeface="Calibri" pitchFamily="34" charset="0"/>
                <a:ea typeface="Calibri" pitchFamily="34" charset="-122"/>
                <a:cs typeface="Calibri" pitchFamily="34" charset="-120"/>
              </a:rPr>
              <a:t>iOS — Expo SDK 57, React Native 0.86, React 19, expo-router, Zustand.  Web — Vite, React 18, Tailwind, framer-motion. The web referee imports the phone's own rules modules through an @app/* alias, so the scoreline cannot diverge between platforms.</a:t>
            </a:r>
            <a:endParaRPr lang="en-US" sz="1100" dirty="0"/>
          </a:p>
        </p:txBody>
      </p:sp>
      <p:sp>
        <p:nvSpPr>
          <p:cNvPr id="7" name="Shape 5"/>
          <p:cNvSpPr/>
          <p:nvPr/>
        </p:nvSpPr>
        <p:spPr>
          <a:xfrm>
            <a:off x="640080" y="2770632"/>
            <a:ext cx="10908792" cy="1005840"/>
          </a:xfrm>
          <a:prstGeom prst="roundRect">
            <a:avLst>
              <a:gd name="adj" fmla="val 7273"/>
            </a:avLst>
          </a:prstGeom>
          <a:solidFill>
            <a:srgbClr val="0C1F17"/>
          </a:solidFill>
          <a:ln w="9525">
            <a:solidFill>
              <a:srgbClr val="1C3B2C"/>
            </a:solidFill>
            <a:prstDash val="solid"/>
          </a:ln>
        </p:spPr>
      </p:sp>
      <p:sp>
        <p:nvSpPr>
          <p:cNvPr id="8" name="Text 6"/>
          <p:cNvSpPr/>
          <p:nvPr/>
        </p:nvSpPr>
        <p:spPr>
          <a:xfrm>
            <a:off x="868680" y="2935224"/>
            <a:ext cx="1828800" cy="274320"/>
          </a:xfrm>
          <a:prstGeom prst="rect">
            <a:avLst/>
          </a:prstGeom>
          <a:noFill/>
          <a:ln/>
        </p:spPr>
        <p:txBody>
          <a:bodyPr wrap="square" lIns="0" tIns="0" rIns="0" bIns="0" rtlCol="0" anchor="ctr"/>
          <a:lstStyle/>
          <a:p>
            <a:pPr indent="0" marL="0">
              <a:buNone/>
            </a:pPr>
            <a:r>
              <a:rPr lang="en-US" sz="1150" b="1" spc="120" kern="0" dirty="0">
                <a:solidFill>
                  <a:srgbClr val="7CBF3F"/>
                </a:solidFill>
                <a:latin typeface="Calibri" pitchFamily="34" charset="0"/>
                <a:ea typeface="Calibri" pitchFamily="34" charset="-122"/>
                <a:cs typeface="Calibri" pitchFamily="34" charset="-120"/>
              </a:rPr>
              <a:t>ON DEVICE</a:t>
            </a:r>
            <a:endParaRPr lang="en-US" sz="1150" dirty="0"/>
          </a:p>
        </p:txBody>
      </p:sp>
      <p:sp>
        <p:nvSpPr>
          <p:cNvPr id="9" name="Text 7"/>
          <p:cNvSpPr/>
          <p:nvPr/>
        </p:nvSpPr>
        <p:spPr>
          <a:xfrm>
            <a:off x="2788920" y="2944368"/>
            <a:ext cx="8458200" cy="731520"/>
          </a:xfrm>
          <a:prstGeom prst="rect">
            <a:avLst/>
          </a:prstGeom>
          <a:noFill/>
          <a:ln/>
        </p:spPr>
        <p:txBody>
          <a:bodyPr wrap="square" lIns="0" tIns="0" rIns="0" bIns="0" rtlCol="0" anchor="t"/>
          <a:lstStyle/>
          <a:p>
            <a:pPr indent="0" marL="0">
              <a:lnSpc>
                <a:spcPts val="1500"/>
              </a:lnSpc>
              <a:buNone/>
            </a:pPr>
            <a:r>
              <a:rPr lang="en-US" sz="1100" dirty="0">
                <a:solidFill>
                  <a:srgbClr val="9FB3A6"/>
                </a:solidFill>
                <a:latin typeface="Calibri" pitchFamily="34" charset="0"/>
                <a:ea typeface="Calibri" pitchFamily="34" charset="-122"/>
                <a:cs typeface="Calibri" pitchFamily="34" charset="-120"/>
              </a:rPr>
              <a:t>A Swift native module: AVCaptureSession → Vision pose → a streaming audio-onset detector → a rally engine that emits rally-started / strike / rally-ended with a proposed winner, a confidence, and a plain-English reason. 4.9K lines, ported from the Python spec.</a:t>
            </a:r>
            <a:endParaRPr lang="en-US" sz="1100" dirty="0"/>
          </a:p>
        </p:txBody>
      </p:sp>
      <p:sp>
        <p:nvSpPr>
          <p:cNvPr id="10" name="Shape 8"/>
          <p:cNvSpPr/>
          <p:nvPr/>
        </p:nvSpPr>
        <p:spPr>
          <a:xfrm>
            <a:off x="640080" y="3849624"/>
            <a:ext cx="10908792" cy="1005840"/>
          </a:xfrm>
          <a:prstGeom prst="roundRect">
            <a:avLst>
              <a:gd name="adj" fmla="val 7273"/>
            </a:avLst>
          </a:prstGeom>
          <a:solidFill>
            <a:srgbClr val="0C1F17"/>
          </a:solidFill>
          <a:ln w="9525">
            <a:solidFill>
              <a:srgbClr val="1C3B2C"/>
            </a:solidFill>
            <a:prstDash val="solid"/>
          </a:ln>
        </p:spPr>
      </p:sp>
      <p:sp>
        <p:nvSpPr>
          <p:cNvPr id="11" name="Text 9"/>
          <p:cNvSpPr/>
          <p:nvPr/>
        </p:nvSpPr>
        <p:spPr>
          <a:xfrm>
            <a:off x="868680" y="4014216"/>
            <a:ext cx="1828800" cy="274320"/>
          </a:xfrm>
          <a:prstGeom prst="rect">
            <a:avLst/>
          </a:prstGeom>
          <a:noFill/>
          <a:ln/>
        </p:spPr>
        <p:txBody>
          <a:bodyPr wrap="square" lIns="0" tIns="0" rIns="0" bIns="0" rtlCol="0" anchor="ctr"/>
          <a:lstStyle/>
          <a:p>
            <a:pPr indent="0" marL="0">
              <a:buNone/>
            </a:pPr>
            <a:r>
              <a:rPr lang="en-US" sz="1150" b="1" spc="120" kern="0" dirty="0">
                <a:solidFill>
                  <a:srgbClr val="7CBF3F"/>
                </a:solidFill>
                <a:latin typeface="Calibri" pitchFamily="34" charset="0"/>
                <a:ea typeface="Calibri" pitchFamily="34" charset="-122"/>
                <a:cs typeface="Calibri" pitchFamily="34" charset="-120"/>
              </a:rPr>
              <a:t>ANALYSIS SERVICE</a:t>
            </a:r>
            <a:endParaRPr lang="en-US" sz="1150" dirty="0"/>
          </a:p>
        </p:txBody>
      </p:sp>
      <p:sp>
        <p:nvSpPr>
          <p:cNvPr id="12" name="Text 10"/>
          <p:cNvSpPr/>
          <p:nvPr/>
        </p:nvSpPr>
        <p:spPr>
          <a:xfrm>
            <a:off x="2788920" y="4023360"/>
            <a:ext cx="8458200" cy="731520"/>
          </a:xfrm>
          <a:prstGeom prst="rect">
            <a:avLst/>
          </a:prstGeom>
          <a:noFill/>
          <a:ln/>
        </p:spPr>
        <p:txBody>
          <a:bodyPr wrap="square" lIns="0" tIns="0" rIns="0" bIns="0" rtlCol="0" anchor="t"/>
          <a:lstStyle/>
          <a:p>
            <a:pPr indent="0" marL="0">
              <a:lnSpc>
                <a:spcPts val="1500"/>
              </a:lnSpc>
              <a:buNone/>
            </a:pPr>
            <a:r>
              <a:rPr lang="en-US" sz="1100" dirty="0">
                <a:solidFill>
                  <a:srgbClr val="9FB3A6"/>
                </a:solidFill>
                <a:latin typeface="Calibri" pitchFamily="34" charset="0"/>
                <a:ea typeface="Calibri" pitchFamily="34" charset="-122"/>
                <a:cs typeface="Calibri" pitchFamily="34" charset="-120"/>
              </a:rPr>
              <a:t>Python: RTMPose via rtmlib on CPU ONNX, OpenCV with ORB/RANSAC drift compensation so a bumped camera still maps to the same court, a homography fitted from the floor lines, librosa spectral-flux onsets, and a Flask job server in Docker.</a:t>
            </a:r>
            <a:endParaRPr lang="en-US" sz="1100" dirty="0"/>
          </a:p>
        </p:txBody>
      </p:sp>
      <p:sp>
        <p:nvSpPr>
          <p:cNvPr id="13" name="Shape 11"/>
          <p:cNvSpPr/>
          <p:nvPr/>
        </p:nvSpPr>
        <p:spPr>
          <a:xfrm>
            <a:off x="640080" y="4928616"/>
            <a:ext cx="10908792" cy="1005840"/>
          </a:xfrm>
          <a:prstGeom prst="roundRect">
            <a:avLst>
              <a:gd name="adj" fmla="val 7273"/>
            </a:avLst>
          </a:prstGeom>
          <a:solidFill>
            <a:srgbClr val="0C1F17"/>
          </a:solidFill>
          <a:ln w="9525">
            <a:solidFill>
              <a:srgbClr val="1C3B2C"/>
            </a:solidFill>
            <a:prstDash val="solid"/>
          </a:ln>
        </p:spPr>
      </p:sp>
      <p:sp>
        <p:nvSpPr>
          <p:cNvPr id="14" name="Text 12"/>
          <p:cNvSpPr/>
          <p:nvPr/>
        </p:nvSpPr>
        <p:spPr>
          <a:xfrm>
            <a:off x="868680" y="5093208"/>
            <a:ext cx="1828800" cy="274320"/>
          </a:xfrm>
          <a:prstGeom prst="rect">
            <a:avLst/>
          </a:prstGeom>
          <a:noFill/>
          <a:ln/>
        </p:spPr>
        <p:txBody>
          <a:bodyPr wrap="square" lIns="0" tIns="0" rIns="0" bIns="0" rtlCol="0" anchor="ctr"/>
          <a:lstStyle/>
          <a:p>
            <a:pPr indent="0" marL="0">
              <a:buNone/>
            </a:pPr>
            <a:r>
              <a:rPr lang="en-US" sz="1150" b="1" spc="120" kern="0" dirty="0">
                <a:solidFill>
                  <a:srgbClr val="7CBF3F"/>
                </a:solidFill>
                <a:latin typeface="Calibri" pitchFamily="34" charset="0"/>
                <a:ea typeface="Calibri" pitchFamily="34" charset="-122"/>
                <a:cs typeface="Calibri" pitchFamily="34" charset="-120"/>
              </a:rPr>
              <a:t>PLATFORM &amp; INFRA</a:t>
            </a:r>
            <a:endParaRPr lang="en-US" sz="1150" dirty="0"/>
          </a:p>
        </p:txBody>
      </p:sp>
      <p:sp>
        <p:nvSpPr>
          <p:cNvPr id="15" name="Text 13"/>
          <p:cNvSpPr/>
          <p:nvPr/>
        </p:nvSpPr>
        <p:spPr>
          <a:xfrm>
            <a:off x="2788920" y="5102352"/>
            <a:ext cx="8458200" cy="731520"/>
          </a:xfrm>
          <a:prstGeom prst="rect">
            <a:avLst/>
          </a:prstGeom>
          <a:noFill/>
          <a:ln/>
        </p:spPr>
        <p:txBody>
          <a:bodyPr wrap="square" lIns="0" tIns="0" rIns="0" bIns="0" rtlCol="0" anchor="t"/>
          <a:lstStyle/>
          <a:p>
            <a:pPr indent="0" marL="0">
              <a:lnSpc>
                <a:spcPts val="1500"/>
              </a:lnSpc>
              <a:buNone/>
            </a:pPr>
            <a:r>
              <a:rPr lang="en-US" sz="1100" dirty="0">
                <a:solidFill>
                  <a:srgbClr val="9FB3A6"/>
                </a:solidFill>
                <a:latin typeface="Calibri" pitchFamily="34" charset="0"/>
                <a:ea typeface="Calibri" pitchFamily="34" charset="-122"/>
                <a:cs typeface="Calibri" pitchFamily="34" charset="-120"/>
              </a:rPr>
              <a:t>Supabase for auth, RLS and the event store. Stripe Checkout server-side only; RevenueCat on iOS. Azure Container Instances behind a Caddy TLS sidecar, and Azure Static Web Apps with an Azure DNS alias record holding the apex.</a:t>
            </a:r>
            <a:endParaRPr lang="en-US" sz="1100" dirty="0"/>
          </a:p>
        </p:txBody>
      </p:sp>
      <p:sp>
        <p:nvSpPr>
          <p:cNvPr id="16" name="Text 14"/>
          <p:cNvSpPr/>
          <p:nvPr/>
        </p:nvSpPr>
        <p:spPr>
          <a:xfrm>
            <a:off x="10881360" y="6172200"/>
            <a:ext cx="667512" cy="237744"/>
          </a:xfrm>
          <a:prstGeom prst="rect">
            <a:avLst/>
          </a:prstGeom>
          <a:noFill/>
          <a:ln/>
        </p:spPr>
        <p:txBody>
          <a:bodyPr wrap="square" lIns="0" tIns="0" rIns="0" bIns="0" rtlCol="0" anchor="ctr"/>
          <a:lstStyle/>
          <a:p>
            <a:pPr algn="r" indent="0" marL="0">
              <a:buNone/>
            </a:pPr>
            <a:r>
              <a:rPr lang="en-US" sz="1000" dirty="0">
                <a:solidFill>
                  <a:srgbClr val="70857A"/>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130E"/>
        </a:solidFill>
      </p:bgPr>
    </p:bg>
    <p:spTree>
      <p:nvGrpSpPr>
        <p:cNvPr id="1" name=""/>
        <p:cNvGrpSpPr/>
        <p:nvPr/>
      </p:nvGrpSpPr>
      <p:grpSpPr>
        <a:xfrm>
          <a:off x="0" y="0"/>
          <a:ext cx="0" cy="0"/>
          <a:chOff x="0" y="0"/>
          <a:chExt cx="0" cy="0"/>
        </a:xfrm>
      </p:grpSpPr>
      <p:sp>
        <p:nvSpPr>
          <p:cNvPr id="2" name="Text 0"/>
          <p:cNvSpPr/>
          <p:nvPr/>
        </p:nvSpPr>
        <p:spPr>
          <a:xfrm>
            <a:off x="640080" y="548640"/>
            <a:ext cx="10908792" cy="566928"/>
          </a:xfrm>
          <a:prstGeom prst="rect">
            <a:avLst/>
          </a:prstGeom>
          <a:noFill/>
          <a:ln/>
        </p:spPr>
        <p:txBody>
          <a:bodyPr wrap="square" lIns="0" tIns="0" rIns="0" bIns="0" rtlCol="0" anchor="ctr"/>
          <a:lstStyle/>
          <a:p>
            <a:pPr indent="0" marL="0">
              <a:buNone/>
            </a:pPr>
            <a:r>
              <a:rPr lang="en-US" sz="3200" b="1" dirty="0">
                <a:solidFill>
                  <a:srgbClr val="F4F7F3"/>
                </a:solidFill>
                <a:latin typeface="Arial" pitchFamily="34" charset="0"/>
                <a:ea typeface="Arial" pitchFamily="34" charset="-122"/>
                <a:cs typeface="Arial" pitchFamily="34" charset="-120"/>
              </a:rPr>
              <a:t>Traction: what is live, and what is in the pipe</a:t>
            </a:r>
            <a:endParaRPr lang="en-US" sz="3200" dirty="0"/>
          </a:p>
        </p:txBody>
      </p:sp>
      <p:sp>
        <p:nvSpPr>
          <p:cNvPr id="3" name="Text 1"/>
          <p:cNvSpPr/>
          <p:nvPr/>
        </p:nvSpPr>
        <p:spPr>
          <a:xfrm>
            <a:off x="640080" y="1152144"/>
            <a:ext cx="10543032" cy="402336"/>
          </a:xfrm>
          <a:prstGeom prst="rect">
            <a:avLst/>
          </a:prstGeom>
          <a:noFill/>
          <a:ln/>
        </p:spPr>
        <p:txBody>
          <a:bodyPr wrap="square" lIns="0" tIns="0" rIns="0" bIns="0" rtlCol="0" anchor="t"/>
          <a:lstStyle/>
          <a:p>
            <a:pPr indent="0" marL="0">
              <a:buNone/>
            </a:pPr>
            <a:r>
              <a:rPr lang="en-US" sz="1300" dirty="0">
                <a:solidFill>
                  <a:srgbClr val="9FB3A6"/>
                </a:solidFill>
                <a:latin typeface="Calibri" pitchFamily="34" charset="0"/>
                <a:ea typeface="Calibri" pitchFamily="34" charset="-122"/>
                <a:cs typeface="Calibri" pitchFamily="34" charset="-120"/>
              </a:rPr>
              <a:t>Nobody has paid yet. This week built every surface that can carry the first user who does — and put the app in Apple's queue.</a:t>
            </a:r>
            <a:endParaRPr lang="en-US" sz="1300" dirty="0"/>
          </a:p>
        </p:txBody>
      </p:sp>
      <p:sp>
        <p:nvSpPr>
          <p:cNvPr id="4" name="Shape 2"/>
          <p:cNvSpPr/>
          <p:nvPr/>
        </p:nvSpPr>
        <p:spPr>
          <a:xfrm>
            <a:off x="640080" y="1737360"/>
            <a:ext cx="3453384" cy="1691640"/>
          </a:xfrm>
          <a:prstGeom prst="roundRect">
            <a:avLst>
              <a:gd name="adj" fmla="val 4324"/>
            </a:avLst>
          </a:prstGeom>
          <a:solidFill>
            <a:srgbClr val="0C1F17"/>
          </a:solidFill>
          <a:ln w="9525">
            <a:solidFill>
              <a:srgbClr val="1C3B2C"/>
            </a:solidFill>
            <a:prstDash val="solid"/>
          </a:ln>
        </p:spPr>
      </p:sp>
      <p:sp>
        <p:nvSpPr>
          <p:cNvPr id="5" name="Text 3"/>
          <p:cNvSpPr/>
          <p:nvPr/>
        </p:nvSpPr>
        <p:spPr>
          <a:xfrm>
            <a:off x="868680" y="1874520"/>
            <a:ext cx="2996184" cy="219456"/>
          </a:xfrm>
          <a:prstGeom prst="rect">
            <a:avLst/>
          </a:prstGeom>
          <a:noFill/>
          <a:ln/>
        </p:spPr>
        <p:txBody>
          <a:bodyPr wrap="square" lIns="0" tIns="0" rIns="0" bIns="0" rtlCol="0" anchor="ctr"/>
          <a:lstStyle/>
          <a:p>
            <a:pPr indent="0" marL="0">
              <a:buNone/>
            </a:pPr>
            <a:r>
              <a:rPr lang="en-US" sz="1050" b="1" spc="200" kern="0" dirty="0">
                <a:solidFill>
                  <a:srgbClr val="A6D47D"/>
                </a:solidFill>
                <a:latin typeface="Calibri" pitchFamily="34" charset="0"/>
                <a:ea typeface="Calibri" pitchFamily="34" charset="-122"/>
                <a:cs typeface="Calibri" pitchFamily="34" charset="-120"/>
              </a:rPr>
              <a:t>WEB</a:t>
            </a:r>
            <a:endParaRPr lang="en-US" sz="1050" dirty="0"/>
          </a:p>
        </p:txBody>
      </p:sp>
      <p:sp>
        <p:nvSpPr>
          <p:cNvPr id="6" name="Text 4"/>
          <p:cNvSpPr/>
          <p:nvPr/>
        </p:nvSpPr>
        <p:spPr>
          <a:xfrm>
            <a:off x="868680" y="2121408"/>
            <a:ext cx="3041904" cy="411480"/>
          </a:xfrm>
          <a:prstGeom prst="rect">
            <a:avLst/>
          </a:prstGeom>
          <a:noFill/>
          <a:ln/>
        </p:spPr>
        <p:txBody>
          <a:bodyPr wrap="square" lIns="0" tIns="0" rIns="0" bIns="0" rtlCol="0" anchor="ctr"/>
          <a:lstStyle/>
          <a:p>
            <a:pPr indent="0" marL="0">
              <a:buNone/>
            </a:pPr>
            <a:r>
              <a:rPr lang="en-US" sz="2000" b="1" dirty="0">
                <a:solidFill>
                  <a:srgbClr val="F4F7F3"/>
                </a:solidFill>
                <a:latin typeface="Arial" pitchFamily="34" charset="0"/>
                <a:ea typeface="Arial" pitchFamily="34" charset="-122"/>
                <a:cs typeface="Arial" pitchFamily="34" charset="-120"/>
              </a:rPr>
              <a:t>racketiq.tech</a:t>
            </a:r>
            <a:endParaRPr lang="en-US" sz="2000" dirty="0"/>
          </a:p>
        </p:txBody>
      </p:sp>
      <p:sp>
        <p:nvSpPr>
          <p:cNvPr id="7" name="Text 5"/>
          <p:cNvSpPr/>
          <p:nvPr/>
        </p:nvSpPr>
        <p:spPr>
          <a:xfrm>
            <a:off x="868680" y="2578608"/>
            <a:ext cx="3041904" cy="777240"/>
          </a:xfrm>
          <a:prstGeom prst="rect">
            <a:avLst/>
          </a:prstGeom>
          <a:noFill/>
          <a:ln/>
        </p:spPr>
        <p:txBody>
          <a:bodyPr wrap="square" lIns="0" tIns="0" rIns="0" bIns="0" rtlCol="0" anchor="t"/>
          <a:lstStyle/>
          <a:p>
            <a:pPr indent="0" marL="0">
              <a:lnSpc>
                <a:spcPts val="1400"/>
              </a:lnSpc>
              <a:buNone/>
            </a:pPr>
            <a:r>
              <a:rPr lang="en-US" sz="1050" dirty="0">
                <a:solidFill>
                  <a:srgbClr val="9FB3A6"/>
                </a:solidFill>
                <a:latin typeface="Calibri" pitchFamily="34" charset="0"/>
                <a:ea typeface="Calibri" pitchFamily="34" charset="-122"/>
                <a:cs typeface="Calibri" pitchFamily="34" charset="-120"/>
              </a:rPr>
              <a:t>Apex and www, both on TLS, live since 21 Aug. The apex needed an Azure DNS alias record — the registrar supports neither ALIAS nor CNAME flattening.</a:t>
            </a:r>
            <a:endParaRPr lang="en-US" sz="1050" dirty="0"/>
          </a:p>
        </p:txBody>
      </p:sp>
      <p:sp>
        <p:nvSpPr>
          <p:cNvPr id="8" name="Shape 6"/>
          <p:cNvSpPr/>
          <p:nvPr/>
        </p:nvSpPr>
        <p:spPr>
          <a:xfrm>
            <a:off x="4367784" y="1737360"/>
            <a:ext cx="3453384" cy="1691640"/>
          </a:xfrm>
          <a:prstGeom prst="roundRect">
            <a:avLst>
              <a:gd name="adj" fmla="val 4324"/>
            </a:avLst>
          </a:prstGeom>
          <a:solidFill>
            <a:srgbClr val="0C1F17"/>
          </a:solidFill>
          <a:ln w="9525">
            <a:solidFill>
              <a:srgbClr val="1C3B2C"/>
            </a:solidFill>
            <a:prstDash val="solid"/>
          </a:ln>
        </p:spPr>
      </p:sp>
      <p:sp>
        <p:nvSpPr>
          <p:cNvPr id="9" name="Text 7"/>
          <p:cNvSpPr/>
          <p:nvPr/>
        </p:nvSpPr>
        <p:spPr>
          <a:xfrm>
            <a:off x="4596384" y="1874520"/>
            <a:ext cx="2996184" cy="219456"/>
          </a:xfrm>
          <a:prstGeom prst="rect">
            <a:avLst/>
          </a:prstGeom>
          <a:noFill/>
          <a:ln/>
        </p:spPr>
        <p:txBody>
          <a:bodyPr wrap="square" lIns="0" tIns="0" rIns="0" bIns="0" rtlCol="0" anchor="ctr"/>
          <a:lstStyle/>
          <a:p>
            <a:pPr indent="0" marL="0">
              <a:buNone/>
            </a:pPr>
            <a:r>
              <a:rPr lang="en-US" sz="1050" b="1" spc="200" kern="0" dirty="0">
                <a:solidFill>
                  <a:srgbClr val="A6D47D"/>
                </a:solidFill>
                <a:latin typeface="Calibri" pitchFamily="34" charset="0"/>
                <a:ea typeface="Calibri" pitchFamily="34" charset="-122"/>
                <a:cs typeface="Calibri" pitchFamily="34" charset="-120"/>
              </a:rPr>
              <a:t>iOS</a:t>
            </a:r>
            <a:endParaRPr lang="en-US" sz="1050" dirty="0"/>
          </a:p>
        </p:txBody>
      </p:sp>
      <p:sp>
        <p:nvSpPr>
          <p:cNvPr id="10" name="Text 8"/>
          <p:cNvSpPr/>
          <p:nvPr/>
        </p:nvSpPr>
        <p:spPr>
          <a:xfrm>
            <a:off x="4596384" y="2121408"/>
            <a:ext cx="3041904" cy="411480"/>
          </a:xfrm>
          <a:prstGeom prst="rect">
            <a:avLst/>
          </a:prstGeom>
          <a:noFill/>
          <a:ln/>
        </p:spPr>
        <p:txBody>
          <a:bodyPr wrap="square" lIns="0" tIns="0" rIns="0" bIns="0" rtlCol="0" anchor="ctr"/>
          <a:lstStyle/>
          <a:p>
            <a:pPr indent="0" marL="0">
              <a:buNone/>
            </a:pPr>
            <a:r>
              <a:rPr lang="en-US" sz="2000" b="1" dirty="0">
                <a:solidFill>
                  <a:srgbClr val="F4F7F3"/>
                </a:solidFill>
                <a:latin typeface="Arial" pitchFamily="34" charset="0"/>
                <a:ea typeface="Arial" pitchFamily="34" charset="-122"/>
                <a:cs typeface="Arial" pitchFamily="34" charset="-120"/>
              </a:rPr>
              <a:t>Submitted</a:t>
            </a:r>
            <a:endParaRPr lang="en-US" sz="2000" dirty="0"/>
          </a:p>
        </p:txBody>
      </p:sp>
      <p:sp>
        <p:nvSpPr>
          <p:cNvPr id="11" name="Text 9"/>
          <p:cNvSpPr/>
          <p:nvPr/>
        </p:nvSpPr>
        <p:spPr>
          <a:xfrm>
            <a:off x="4596384" y="2578608"/>
            <a:ext cx="3041904" cy="777240"/>
          </a:xfrm>
          <a:prstGeom prst="rect">
            <a:avLst/>
          </a:prstGeom>
          <a:noFill/>
          <a:ln/>
        </p:spPr>
        <p:txBody>
          <a:bodyPr wrap="square" lIns="0" tIns="0" rIns="0" bIns="0" rtlCol="0" anchor="t"/>
          <a:lstStyle/>
          <a:p>
            <a:pPr indent="0" marL="0">
              <a:lnSpc>
                <a:spcPts val="1400"/>
              </a:lnSpc>
              <a:buNone/>
            </a:pPr>
            <a:r>
              <a:rPr lang="en-US" sz="1050" dirty="0">
                <a:solidFill>
                  <a:srgbClr val="9FB3A6"/>
                </a:solidFill>
                <a:latin typeface="Calibri" pitchFamily="34" charset="0"/>
                <a:ea typeface="Calibri" pitchFamily="34" charset="-122"/>
                <a:cs typeface="Calibri" pitchFamily="34" charset="-120"/>
              </a:rPr>
              <a:t>v1.0.0 (build 29) submitted for App Store review, expedited request in. Signing, entitlements and permission strings verified from inside the IPA.</a:t>
            </a:r>
            <a:endParaRPr lang="en-US" sz="1050" dirty="0"/>
          </a:p>
        </p:txBody>
      </p:sp>
      <p:sp>
        <p:nvSpPr>
          <p:cNvPr id="12" name="Shape 10"/>
          <p:cNvSpPr/>
          <p:nvPr/>
        </p:nvSpPr>
        <p:spPr>
          <a:xfrm>
            <a:off x="8095488" y="1737360"/>
            <a:ext cx="3453384" cy="1691640"/>
          </a:xfrm>
          <a:prstGeom prst="roundRect">
            <a:avLst>
              <a:gd name="adj" fmla="val 4324"/>
            </a:avLst>
          </a:prstGeom>
          <a:solidFill>
            <a:srgbClr val="0C1F17"/>
          </a:solidFill>
          <a:ln w="9525">
            <a:solidFill>
              <a:srgbClr val="1C3B2C"/>
            </a:solidFill>
            <a:prstDash val="solid"/>
          </a:ln>
        </p:spPr>
      </p:sp>
      <p:sp>
        <p:nvSpPr>
          <p:cNvPr id="13" name="Text 11"/>
          <p:cNvSpPr/>
          <p:nvPr/>
        </p:nvSpPr>
        <p:spPr>
          <a:xfrm>
            <a:off x="8324088" y="1874520"/>
            <a:ext cx="2996184" cy="219456"/>
          </a:xfrm>
          <a:prstGeom prst="rect">
            <a:avLst/>
          </a:prstGeom>
          <a:noFill/>
          <a:ln/>
        </p:spPr>
        <p:txBody>
          <a:bodyPr wrap="square" lIns="0" tIns="0" rIns="0" bIns="0" rtlCol="0" anchor="ctr"/>
          <a:lstStyle/>
          <a:p>
            <a:pPr indent="0" marL="0">
              <a:buNone/>
            </a:pPr>
            <a:r>
              <a:rPr lang="en-US" sz="1050" b="1" spc="200" kern="0" dirty="0">
                <a:solidFill>
                  <a:srgbClr val="A6D47D"/>
                </a:solidFill>
                <a:latin typeface="Calibri" pitchFamily="34" charset="0"/>
                <a:ea typeface="Calibri" pitchFamily="34" charset="-122"/>
                <a:cs typeface="Calibri" pitchFamily="34" charset="-120"/>
              </a:rPr>
              <a:t>PRICING</a:t>
            </a:r>
            <a:endParaRPr lang="en-US" sz="1050" dirty="0"/>
          </a:p>
        </p:txBody>
      </p:sp>
      <p:sp>
        <p:nvSpPr>
          <p:cNvPr id="14" name="Text 12"/>
          <p:cNvSpPr/>
          <p:nvPr/>
        </p:nvSpPr>
        <p:spPr>
          <a:xfrm>
            <a:off x="8324088" y="2121408"/>
            <a:ext cx="3041904" cy="411480"/>
          </a:xfrm>
          <a:prstGeom prst="rect">
            <a:avLst/>
          </a:prstGeom>
          <a:noFill/>
          <a:ln/>
        </p:spPr>
        <p:txBody>
          <a:bodyPr wrap="square" lIns="0" tIns="0" rIns="0" bIns="0" rtlCol="0" anchor="ctr"/>
          <a:lstStyle/>
          <a:p>
            <a:pPr indent="0" marL="0">
              <a:buNone/>
            </a:pPr>
            <a:r>
              <a:rPr lang="en-US" sz="2000" b="1" dirty="0">
                <a:solidFill>
                  <a:srgbClr val="F4F7F3"/>
                </a:solidFill>
                <a:latin typeface="Arial" pitchFamily="34" charset="0"/>
                <a:ea typeface="Arial" pitchFamily="34" charset="-122"/>
                <a:cs typeface="Arial" pitchFamily="34" charset="-120"/>
              </a:rPr>
              <a:t>$9.99 / month</a:t>
            </a:r>
            <a:endParaRPr lang="en-US" sz="2000" dirty="0"/>
          </a:p>
        </p:txBody>
      </p:sp>
      <p:sp>
        <p:nvSpPr>
          <p:cNvPr id="15" name="Text 13"/>
          <p:cNvSpPr/>
          <p:nvPr/>
        </p:nvSpPr>
        <p:spPr>
          <a:xfrm>
            <a:off x="8324088" y="2578608"/>
            <a:ext cx="3041904" cy="777240"/>
          </a:xfrm>
          <a:prstGeom prst="rect">
            <a:avLst/>
          </a:prstGeom>
          <a:noFill/>
          <a:ln/>
        </p:spPr>
        <p:txBody>
          <a:bodyPr wrap="square" lIns="0" tIns="0" rIns="0" bIns="0" rtlCol="0" anchor="t"/>
          <a:lstStyle/>
          <a:p>
            <a:pPr indent="0" marL="0">
              <a:lnSpc>
                <a:spcPts val="1400"/>
              </a:lnSpc>
              <a:buNone/>
            </a:pPr>
            <a:r>
              <a:rPr lang="en-US" sz="1050" dirty="0">
                <a:solidFill>
                  <a:srgbClr val="9FB3A6"/>
                </a:solidFill>
                <a:latin typeface="Calibri" pitchFamily="34" charset="0"/>
                <a:ea typeface="Calibri" pitchFamily="34" charset="-122"/>
                <a:cs typeface="Calibri" pitchFamily="34" charset="-120"/>
              </a:rPr>
              <a:t>or $79.99 a year, after three free analyses. Stripe on the web, RevenueCat on iOS, both resolving to one entitlement.</a:t>
            </a:r>
            <a:endParaRPr lang="en-US" sz="1050" dirty="0"/>
          </a:p>
        </p:txBody>
      </p:sp>
      <p:sp>
        <p:nvSpPr>
          <p:cNvPr id="16" name="Shape 14"/>
          <p:cNvSpPr/>
          <p:nvPr/>
        </p:nvSpPr>
        <p:spPr>
          <a:xfrm>
            <a:off x="640080" y="3703320"/>
            <a:ext cx="2521458" cy="1051560"/>
          </a:xfrm>
          <a:prstGeom prst="roundRect">
            <a:avLst>
              <a:gd name="adj" fmla="val 6957"/>
            </a:avLst>
          </a:prstGeom>
          <a:solidFill>
            <a:srgbClr val="0C1F17"/>
          </a:solidFill>
          <a:ln w="9525">
            <a:solidFill>
              <a:srgbClr val="1C3B2C"/>
            </a:solidFill>
            <a:prstDash val="solid"/>
          </a:ln>
        </p:spPr>
      </p:sp>
      <p:sp>
        <p:nvSpPr>
          <p:cNvPr id="17" name="Shape 15"/>
          <p:cNvSpPr/>
          <p:nvPr/>
        </p:nvSpPr>
        <p:spPr>
          <a:xfrm>
            <a:off x="868680" y="3877056"/>
            <a:ext cx="146304" cy="146304"/>
          </a:xfrm>
          <a:prstGeom prst="ellipse">
            <a:avLst/>
          </a:prstGeom>
          <a:solidFill>
            <a:srgbClr val="7CBF3F"/>
          </a:solidFill>
          <a:ln w="6350">
            <a:solidFill>
              <a:srgbClr val="7CBF3F"/>
            </a:solidFill>
            <a:prstDash val="solid"/>
          </a:ln>
        </p:spPr>
      </p:sp>
      <p:sp>
        <p:nvSpPr>
          <p:cNvPr id="18" name="Text 16"/>
          <p:cNvSpPr/>
          <p:nvPr/>
        </p:nvSpPr>
        <p:spPr>
          <a:xfrm>
            <a:off x="1097280" y="3813048"/>
            <a:ext cx="1881378" cy="256032"/>
          </a:xfrm>
          <a:prstGeom prst="rect">
            <a:avLst/>
          </a:prstGeom>
          <a:noFill/>
          <a:ln/>
        </p:spPr>
        <p:txBody>
          <a:bodyPr wrap="square" lIns="0" tIns="0" rIns="0" bIns="0" rtlCol="0" anchor="ctr"/>
          <a:lstStyle/>
          <a:p>
            <a:pPr indent="0" marL="0">
              <a:buNone/>
            </a:pPr>
            <a:r>
              <a:rPr lang="en-US" sz="1200" b="1" dirty="0">
                <a:solidFill>
                  <a:srgbClr val="F4F7F3"/>
                </a:solidFill>
                <a:latin typeface="Calibri" pitchFamily="34" charset="0"/>
                <a:ea typeface="Calibri" pitchFamily="34" charset="-122"/>
                <a:cs typeface="Calibri" pitchFamily="34" charset="-120"/>
              </a:rPr>
              <a:t>Waitlist live</a:t>
            </a:r>
            <a:endParaRPr lang="en-US" sz="1200" dirty="0"/>
          </a:p>
        </p:txBody>
      </p:sp>
      <p:sp>
        <p:nvSpPr>
          <p:cNvPr id="19" name="Text 17"/>
          <p:cNvSpPr/>
          <p:nvPr/>
        </p:nvSpPr>
        <p:spPr>
          <a:xfrm>
            <a:off x="868680" y="4114800"/>
            <a:ext cx="2064258" cy="530352"/>
          </a:xfrm>
          <a:prstGeom prst="rect">
            <a:avLst/>
          </a:prstGeom>
          <a:noFill/>
          <a:ln/>
        </p:spPr>
        <p:txBody>
          <a:bodyPr wrap="square" lIns="0" tIns="0" rIns="0" bIns="0" rtlCol="0" anchor="t"/>
          <a:lstStyle/>
          <a:p>
            <a:pPr indent="0" marL="0">
              <a:lnSpc>
                <a:spcPts val="1200"/>
              </a:lnSpc>
              <a:buNone/>
            </a:pPr>
            <a:r>
              <a:rPr lang="en-US" sz="950" dirty="0">
                <a:solidFill>
                  <a:srgbClr val="9FB3A6"/>
                </a:solidFill>
                <a:latin typeface="Calibri" pitchFamily="34" charset="0"/>
                <a:ea typeface="Calibri" pitchFamily="34" charset="-122"/>
                <a:cs typeface="Calibri" pitchFamily="34" charset="-120"/>
              </a:rPr>
              <a:t>On the landing page, writing to an insert-only Supabase table.</a:t>
            </a:r>
            <a:endParaRPr lang="en-US" sz="950" dirty="0"/>
          </a:p>
        </p:txBody>
      </p:sp>
      <p:sp>
        <p:nvSpPr>
          <p:cNvPr id="20" name="Shape 18"/>
          <p:cNvSpPr/>
          <p:nvPr/>
        </p:nvSpPr>
        <p:spPr>
          <a:xfrm>
            <a:off x="3435858" y="3703320"/>
            <a:ext cx="2521458" cy="1051560"/>
          </a:xfrm>
          <a:prstGeom prst="roundRect">
            <a:avLst>
              <a:gd name="adj" fmla="val 6957"/>
            </a:avLst>
          </a:prstGeom>
          <a:solidFill>
            <a:srgbClr val="0C1F17"/>
          </a:solidFill>
          <a:ln w="9525">
            <a:solidFill>
              <a:srgbClr val="1C3B2C"/>
            </a:solidFill>
            <a:prstDash val="solid"/>
          </a:ln>
        </p:spPr>
      </p:sp>
      <p:sp>
        <p:nvSpPr>
          <p:cNvPr id="21" name="Shape 19"/>
          <p:cNvSpPr/>
          <p:nvPr/>
        </p:nvSpPr>
        <p:spPr>
          <a:xfrm>
            <a:off x="3664458" y="3877056"/>
            <a:ext cx="146304" cy="146304"/>
          </a:xfrm>
          <a:prstGeom prst="ellipse">
            <a:avLst/>
          </a:prstGeom>
          <a:solidFill>
            <a:srgbClr val="7CBF3F"/>
          </a:solidFill>
          <a:ln w="6350">
            <a:solidFill>
              <a:srgbClr val="7CBF3F"/>
            </a:solidFill>
            <a:prstDash val="solid"/>
          </a:ln>
        </p:spPr>
      </p:sp>
      <p:sp>
        <p:nvSpPr>
          <p:cNvPr id="22" name="Text 20"/>
          <p:cNvSpPr/>
          <p:nvPr/>
        </p:nvSpPr>
        <p:spPr>
          <a:xfrm>
            <a:off x="3893058" y="3813048"/>
            <a:ext cx="1881378" cy="256032"/>
          </a:xfrm>
          <a:prstGeom prst="rect">
            <a:avLst/>
          </a:prstGeom>
          <a:noFill/>
          <a:ln/>
        </p:spPr>
        <p:txBody>
          <a:bodyPr wrap="square" lIns="0" tIns="0" rIns="0" bIns="0" rtlCol="0" anchor="ctr"/>
          <a:lstStyle/>
          <a:p>
            <a:pPr indent="0" marL="0">
              <a:buNone/>
            </a:pPr>
            <a:r>
              <a:rPr lang="en-US" sz="1200" b="1" dirty="0">
                <a:solidFill>
                  <a:srgbClr val="F4F7F3"/>
                </a:solidFill>
                <a:latin typeface="Calibri" pitchFamily="34" charset="0"/>
                <a:ea typeface="Calibri" pitchFamily="34" charset="-122"/>
                <a:cs typeface="Calibri" pitchFamily="34" charset="-120"/>
              </a:rPr>
              <a:t>Admin metrics</a:t>
            </a:r>
            <a:endParaRPr lang="en-US" sz="1200" dirty="0"/>
          </a:p>
        </p:txBody>
      </p:sp>
      <p:sp>
        <p:nvSpPr>
          <p:cNvPr id="23" name="Text 21"/>
          <p:cNvSpPr/>
          <p:nvPr/>
        </p:nvSpPr>
        <p:spPr>
          <a:xfrm>
            <a:off x="3664458" y="4114800"/>
            <a:ext cx="2064258" cy="530352"/>
          </a:xfrm>
          <a:prstGeom prst="rect">
            <a:avLst/>
          </a:prstGeom>
          <a:noFill/>
          <a:ln/>
        </p:spPr>
        <p:txBody>
          <a:bodyPr wrap="square" lIns="0" tIns="0" rIns="0" bIns="0" rtlCol="0" anchor="t"/>
          <a:lstStyle/>
          <a:p>
            <a:pPr indent="0" marL="0">
              <a:lnSpc>
                <a:spcPts val="1200"/>
              </a:lnSpc>
              <a:buNone/>
            </a:pPr>
            <a:r>
              <a:rPr lang="en-US" sz="950" dirty="0">
                <a:solidFill>
                  <a:srgbClr val="9FB3A6"/>
                </a:solidFill>
                <a:latin typeface="Calibri" pitchFamily="34" charset="0"/>
                <a:ea typeface="Calibri" pitchFamily="34" charset="-122"/>
                <a:cs typeface="Calibri" pitchFamily="34" charset="-120"/>
              </a:rPr>
              <a:t>Users, signups, events, purchases and revenue behind basic auth.</a:t>
            </a:r>
            <a:endParaRPr lang="en-US" sz="950" dirty="0"/>
          </a:p>
        </p:txBody>
      </p:sp>
      <p:sp>
        <p:nvSpPr>
          <p:cNvPr id="24" name="Shape 22"/>
          <p:cNvSpPr/>
          <p:nvPr/>
        </p:nvSpPr>
        <p:spPr>
          <a:xfrm>
            <a:off x="6231636" y="3703320"/>
            <a:ext cx="2521458" cy="1051560"/>
          </a:xfrm>
          <a:prstGeom prst="roundRect">
            <a:avLst>
              <a:gd name="adj" fmla="val 6957"/>
            </a:avLst>
          </a:prstGeom>
          <a:solidFill>
            <a:srgbClr val="0C1F17"/>
          </a:solidFill>
          <a:ln w="9525">
            <a:solidFill>
              <a:srgbClr val="1C3B2C"/>
            </a:solidFill>
            <a:prstDash val="solid"/>
          </a:ln>
        </p:spPr>
      </p:sp>
      <p:sp>
        <p:nvSpPr>
          <p:cNvPr id="25" name="Shape 23"/>
          <p:cNvSpPr/>
          <p:nvPr/>
        </p:nvSpPr>
        <p:spPr>
          <a:xfrm>
            <a:off x="6460236" y="3877056"/>
            <a:ext cx="146304" cy="146304"/>
          </a:xfrm>
          <a:prstGeom prst="ellipse">
            <a:avLst/>
          </a:prstGeom>
          <a:solidFill>
            <a:srgbClr val="7CBF3F"/>
          </a:solidFill>
          <a:ln w="6350">
            <a:solidFill>
              <a:srgbClr val="7CBF3F"/>
            </a:solidFill>
            <a:prstDash val="solid"/>
          </a:ln>
        </p:spPr>
      </p:sp>
      <p:sp>
        <p:nvSpPr>
          <p:cNvPr id="26" name="Text 24"/>
          <p:cNvSpPr/>
          <p:nvPr/>
        </p:nvSpPr>
        <p:spPr>
          <a:xfrm>
            <a:off x="6688836" y="3813048"/>
            <a:ext cx="1881378" cy="256032"/>
          </a:xfrm>
          <a:prstGeom prst="rect">
            <a:avLst/>
          </a:prstGeom>
          <a:noFill/>
          <a:ln/>
        </p:spPr>
        <p:txBody>
          <a:bodyPr wrap="square" lIns="0" tIns="0" rIns="0" bIns="0" rtlCol="0" anchor="ctr"/>
          <a:lstStyle/>
          <a:p>
            <a:pPr indent="0" marL="0">
              <a:buNone/>
            </a:pPr>
            <a:r>
              <a:rPr lang="en-US" sz="1200" b="1" dirty="0">
                <a:solidFill>
                  <a:srgbClr val="F4F7F3"/>
                </a:solidFill>
                <a:latin typeface="Calibri" pitchFamily="34" charset="0"/>
                <a:ea typeface="Calibri" pitchFamily="34" charset="-122"/>
                <a:cs typeface="Calibri" pitchFamily="34" charset="-120"/>
              </a:rPr>
              <a:t>Club pipeline</a:t>
            </a:r>
            <a:endParaRPr lang="en-US" sz="1200" dirty="0"/>
          </a:p>
        </p:txBody>
      </p:sp>
      <p:sp>
        <p:nvSpPr>
          <p:cNvPr id="27" name="Text 25"/>
          <p:cNvSpPr/>
          <p:nvPr/>
        </p:nvSpPr>
        <p:spPr>
          <a:xfrm>
            <a:off x="6460236" y="4114800"/>
            <a:ext cx="2064258" cy="530352"/>
          </a:xfrm>
          <a:prstGeom prst="rect">
            <a:avLst/>
          </a:prstGeom>
          <a:noFill/>
          <a:ln/>
        </p:spPr>
        <p:txBody>
          <a:bodyPr wrap="square" lIns="0" tIns="0" rIns="0" bIns="0" rtlCol="0" anchor="t"/>
          <a:lstStyle/>
          <a:p>
            <a:pPr indent="0" marL="0">
              <a:lnSpc>
                <a:spcPts val="1200"/>
              </a:lnSpc>
              <a:buNone/>
            </a:pPr>
            <a:r>
              <a:rPr lang="en-US" sz="950" dirty="0">
                <a:solidFill>
                  <a:srgbClr val="9FB3A6"/>
                </a:solidFill>
                <a:latin typeface="Calibri" pitchFamily="34" charset="0"/>
                <a:ea typeface="Calibri" pitchFamily="34" charset="-122"/>
                <a:cs typeface="Calibri" pitchFamily="34" charset="-120"/>
              </a:rPr>
              <a:t>Intro with the Dixie club head on 19 Aug; a Milton community session priced the app at $50.</a:t>
            </a:r>
            <a:endParaRPr lang="en-US" sz="950" dirty="0"/>
          </a:p>
        </p:txBody>
      </p:sp>
      <p:sp>
        <p:nvSpPr>
          <p:cNvPr id="28" name="Shape 26"/>
          <p:cNvSpPr/>
          <p:nvPr/>
        </p:nvSpPr>
        <p:spPr>
          <a:xfrm>
            <a:off x="9027414" y="3703320"/>
            <a:ext cx="2521458" cy="1051560"/>
          </a:xfrm>
          <a:prstGeom prst="roundRect">
            <a:avLst>
              <a:gd name="adj" fmla="val 6957"/>
            </a:avLst>
          </a:prstGeom>
          <a:solidFill>
            <a:srgbClr val="0C1F17"/>
          </a:solidFill>
          <a:ln w="9525">
            <a:solidFill>
              <a:srgbClr val="1C3B2C"/>
            </a:solidFill>
            <a:prstDash val="solid"/>
          </a:ln>
        </p:spPr>
      </p:sp>
      <p:sp>
        <p:nvSpPr>
          <p:cNvPr id="29" name="Shape 27"/>
          <p:cNvSpPr/>
          <p:nvPr/>
        </p:nvSpPr>
        <p:spPr>
          <a:xfrm>
            <a:off x="9256014" y="3877056"/>
            <a:ext cx="146304" cy="146304"/>
          </a:xfrm>
          <a:prstGeom prst="ellipse">
            <a:avLst/>
          </a:prstGeom>
          <a:solidFill>
            <a:srgbClr val="7CBF3F"/>
          </a:solidFill>
          <a:ln w="6350">
            <a:solidFill>
              <a:srgbClr val="7CBF3F"/>
            </a:solidFill>
            <a:prstDash val="solid"/>
          </a:ln>
        </p:spPr>
      </p:sp>
      <p:sp>
        <p:nvSpPr>
          <p:cNvPr id="30" name="Text 28"/>
          <p:cNvSpPr/>
          <p:nvPr/>
        </p:nvSpPr>
        <p:spPr>
          <a:xfrm>
            <a:off x="9484614" y="3813048"/>
            <a:ext cx="1881378" cy="256032"/>
          </a:xfrm>
          <a:prstGeom prst="rect">
            <a:avLst/>
          </a:prstGeom>
          <a:noFill/>
          <a:ln/>
        </p:spPr>
        <p:txBody>
          <a:bodyPr wrap="square" lIns="0" tIns="0" rIns="0" bIns="0" rtlCol="0" anchor="ctr"/>
          <a:lstStyle/>
          <a:p>
            <a:pPr indent="0" marL="0">
              <a:buNone/>
            </a:pPr>
            <a:r>
              <a:rPr lang="en-US" sz="1200" b="1" dirty="0">
                <a:solidFill>
                  <a:srgbClr val="F4F7F3"/>
                </a:solidFill>
                <a:latin typeface="Calibri" pitchFamily="34" charset="0"/>
                <a:ea typeface="Calibri" pitchFamily="34" charset="-122"/>
                <a:cs typeface="Calibri" pitchFamily="34" charset="-120"/>
              </a:rPr>
              <a:t>Run cost</a:t>
            </a:r>
            <a:endParaRPr lang="en-US" sz="1200" dirty="0"/>
          </a:p>
        </p:txBody>
      </p:sp>
      <p:sp>
        <p:nvSpPr>
          <p:cNvPr id="31" name="Text 29"/>
          <p:cNvSpPr/>
          <p:nvPr/>
        </p:nvSpPr>
        <p:spPr>
          <a:xfrm>
            <a:off x="9256014" y="4114800"/>
            <a:ext cx="2064258" cy="530352"/>
          </a:xfrm>
          <a:prstGeom prst="rect">
            <a:avLst/>
          </a:prstGeom>
          <a:noFill/>
          <a:ln/>
        </p:spPr>
        <p:txBody>
          <a:bodyPr wrap="square" lIns="0" tIns="0" rIns="0" bIns="0" rtlCol="0" anchor="t"/>
          <a:lstStyle/>
          <a:p>
            <a:pPr indent="0" marL="0">
              <a:lnSpc>
                <a:spcPts val="1200"/>
              </a:lnSpc>
              <a:buNone/>
            </a:pPr>
            <a:r>
              <a:rPr lang="en-US" sz="950" dirty="0">
                <a:solidFill>
                  <a:srgbClr val="9FB3A6"/>
                </a:solidFill>
                <a:latin typeface="Calibri" pitchFamily="34" charset="0"/>
                <a:ea typeface="Calibri" pitchFamily="34" charset="-122"/>
                <a:cs typeface="Calibri" pitchFamily="34" charset="-120"/>
              </a:rPr>
              <a:t>The analysis server currently runs at roughly CAD $7 a day.</a:t>
            </a:r>
            <a:endParaRPr lang="en-US" sz="950" dirty="0"/>
          </a:p>
        </p:txBody>
      </p:sp>
      <p:sp>
        <p:nvSpPr>
          <p:cNvPr id="32" name="Shape 30"/>
          <p:cNvSpPr/>
          <p:nvPr/>
        </p:nvSpPr>
        <p:spPr>
          <a:xfrm>
            <a:off x="640080" y="4983480"/>
            <a:ext cx="10908792" cy="914400"/>
          </a:xfrm>
          <a:prstGeom prst="roundRect">
            <a:avLst>
              <a:gd name="adj" fmla="val 8000"/>
            </a:avLst>
          </a:prstGeom>
          <a:solidFill>
            <a:srgbClr val="0F2A1F"/>
          </a:solidFill>
          <a:ln w="9525">
            <a:solidFill>
              <a:srgbClr val="1C3B2C"/>
            </a:solidFill>
            <a:prstDash val="solid"/>
          </a:ln>
        </p:spPr>
      </p:sp>
      <p:sp>
        <p:nvSpPr>
          <p:cNvPr id="33" name="Text 31"/>
          <p:cNvSpPr/>
          <p:nvPr/>
        </p:nvSpPr>
        <p:spPr>
          <a:xfrm>
            <a:off x="868680" y="5120640"/>
            <a:ext cx="10451592" cy="658368"/>
          </a:xfrm>
          <a:prstGeom prst="rect">
            <a:avLst/>
          </a:prstGeom>
          <a:noFill/>
          <a:ln/>
        </p:spPr>
        <p:txBody>
          <a:bodyPr wrap="square" lIns="0" tIns="0" rIns="0" bIns="0" rtlCol="0" anchor="t"/>
          <a:lstStyle/>
          <a:p>
            <a:pPr indent="0" marL="0">
              <a:lnSpc>
                <a:spcPts val="1500"/>
              </a:lnSpc>
              <a:buNone/>
            </a:pPr>
            <a:r>
              <a:rPr lang="en-US" sz="1100" b="1" dirty="0">
                <a:solidFill>
                  <a:srgbClr val="A6D47D"/>
                </a:solidFill>
                <a:latin typeface="Calibri" pitchFamily="34" charset="0"/>
                <a:ea typeface="Calibri" pitchFamily="34" charset="-122"/>
                <a:cs typeface="Calibri" pitchFamily="34" charset="-120"/>
              </a:rPr>
              <a:t>The honest gap.  </a:t>
            </a:r>
            <a:pPr indent="0" marL="0">
              <a:lnSpc>
                <a:spcPts val="1500"/>
              </a:lnSpc>
              <a:buNone/>
            </a:pPr>
            <a:r>
              <a:rPr lang="en-US" sz="1100" dirty="0">
                <a:solidFill>
                  <a:srgbClr val="9FB3A6"/>
                </a:solidFill>
                <a:latin typeface="Calibri" pitchFamily="34" charset="0"/>
                <a:ea typeface="Calibri" pitchFamily="34" charset="-122"/>
                <a:cs typeface="Calibri" pitchFamily="34" charset="-120"/>
              </a:rPr>
              <a:t>No revenue, and the first club match still has not been filmed. What changed this week is that nothing technical stands between us and that pilot — the site serves, the build installs, the paywall charges, and the analysis runs on someone else's footage.</a:t>
            </a:r>
            <a:endParaRPr lang="en-US" sz="1100" dirty="0"/>
          </a:p>
        </p:txBody>
      </p:sp>
      <p:sp>
        <p:nvSpPr>
          <p:cNvPr id="34" name="Text 32"/>
          <p:cNvSpPr/>
          <p:nvPr/>
        </p:nvSpPr>
        <p:spPr>
          <a:xfrm>
            <a:off x="10881360" y="6172200"/>
            <a:ext cx="667512" cy="237744"/>
          </a:xfrm>
          <a:prstGeom prst="rect">
            <a:avLst/>
          </a:prstGeom>
          <a:noFill/>
          <a:ln/>
        </p:spPr>
        <p:txBody>
          <a:bodyPr wrap="square" lIns="0" tIns="0" rIns="0" bIns="0" rtlCol="0" anchor="ctr"/>
          <a:lstStyle/>
          <a:p>
            <a:pPr algn="r" indent="0" marL="0">
              <a:buNone/>
            </a:pPr>
            <a:r>
              <a:rPr lang="en-US" sz="1000" dirty="0">
                <a:solidFill>
                  <a:srgbClr val="70857A"/>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130E"/>
        </a:solidFill>
      </p:bgPr>
    </p:bg>
    <p:spTree>
      <p:nvGrpSpPr>
        <p:cNvPr id="1" name=""/>
        <p:cNvGrpSpPr/>
        <p:nvPr/>
      </p:nvGrpSpPr>
      <p:grpSpPr>
        <a:xfrm>
          <a:off x="0" y="0"/>
          <a:ext cx="0" cy="0"/>
          <a:chOff x="0" y="0"/>
          <a:chExt cx="0" cy="0"/>
        </a:xfrm>
      </p:grpSpPr>
      <p:sp>
        <p:nvSpPr>
          <p:cNvPr id="2" name="Text 0"/>
          <p:cNvSpPr/>
          <p:nvPr/>
        </p:nvSpPr>
        <p:spPr>
          <a:xfrm>
            <a:off x="640080" y="1234440"/>
            <a:ext cx="5029200" cy="219456"/>
          </a:xfrm>
          <a:prstGeom prst="rect">
            <a:avLst/>
          </a:prstGeom>
          <a:noFill/>
          <a:ln/>
        </p:spPr>
        <p:txBody>
          <a:bodyPr wrap="square" lIns="0" tIns="0" rIns="0" bIns="0" rtlCol="0" anchor="ctr"/>
          <a:lstStyle/>
          <a:p>
            <a:pPr indent="0" marL="0">
              <a:buNone/>
            </a:pPr>
            <a:r>
              <a:rPr lang="en-US" sz="1050" b="1" spc="200" kern="0" dirty="0">
                <a:solidFill>
                  <a:srgbClr val="A6D47D"/>
                </a:solidFill>
                <a:latin typeface="Calibri" pitchFamily="34" charset="0"/>
                <a:ea typeface="Calibri" pitchFamily="34" charset="-122"/>
                <a:cs typeface="Calibri" pitchFamily="34" charset="-120"/>
              </a:rPr>
              <a:t>MILESTONE  ·  APP STORE</a:t>
            </a:r>
            <a:endParaRPr lang="en-US" sz="1050" dirty="0"/>
          </a:p>
        </p:txBody>
      </p:sp>
      <p:sp>
        <p:nvSpPr>
          <p:cNvPr id="3" name="Text 1"/>
          <p:cNvSpPr/>
          <p:nvPr/>
        </p:nvSpPr>
        <p:spPr>
          <a:xfrm>
            <a:off x="640080" y="1508760"/>
            <a:ext cx="5029200" cy="1188720"/>
          </a:xfrm>
          <a:prstGeom prst="rect">
            <a:avLst/>
          </a:prstGeom>
          <a:noFill/>
          <a:ln/>
        </p:spPr>
        <p:txBody>
          <a:bodyPr wrap="square" lIns="0" tIns="0" rIns="0" bIns="0" rtlCol="0" anchor="t"/>
          <a:lstStyle/>
          <a:p>
            <a:pPr indent="0" marL="0">
              <a:lnSpc>
                <a:spcPts val="4000"/>
              </a:lnSpc>
              <a:buNone/>
            </a:pPr>
            <a:r>
              <a:rPr lang="en-US" sz="3000" b="1" dirty="0">
                <a:solidFill>
                  <a:srgbClr val="F4F7F3"/>
                </a:solidFill>
                <a:latin typeface="Arial" pitchFamily="34" charset="0"/>
                <a:ea typeface="Arial" pitchFamily="34" charset="-122"/>
                <a:cs typeface="Arial" pitchFamily="34" charset="-120"/>
              </a:rPr>
              <a:t>Submitted to Apple for review</a:t>
            </a:r>
            <a:endParaRPr lang="en-US" sz="3000" dirty="0"/>
          </a:p>
        </p:txBody>
      </p:sp>
      <p:sp>
        <p:nvSpPr>
          <p:cNvPr id="4" name="Text 2"/>
          <p:cNvSpPr/>
          <p:nvPr/>
        </p:nvSpPr>
        <p:spPr>
          <a:xfrm>
            <a:off x="640080" y="2788920"/>
            <a:ext cx="4937760" cy="868680"/>
          </a:xfrm>
          <a:prstGeom prst="rect">
            <a:avLst/>
          </a:prstGeom>
          <a:noFill/>
          <a:ln/>
        </p:spPr>
        <p:txBody>
          <a:bodyPr wrap="square" lIns="0" tIns="0" rIns="0" bIns="0" rtlCol="0" anchor="t"/>
          <a:lstStyle/>
          <a:p>
            <a:pPr indent="0" marL="0">
              <a:lnSpc>
                <a:spcPts val="1900"/>
              </a:lnSpc>
              <a:buNone/>
            </a:pPr>
            <a:r>
              <a:rPr lang="en-US" sz="1300" dirty="0">
                <a:solidFill>
                  <a:srgbClr val="9FB3A6"/>
                </a:solidFill>
                <a:latin typeface="Calibri" pitchFamily="34" charset="0"/>
                <a:ea typeface="Calibri" pitchFamily="34" charset="-122"/>
                <a:cs typeface="Calibri" pitchFamily="34" charset="-120"/>
              </a:rPr>
              <a:t>RacketIQ 1.0 is in Apple's queue — and the expedited-review request is already in.</a:t>
            </a:r>
            <a:endParaRPr lang="en-US" sz="1300" dirty="0"/>
          </a:p>
        </p:txBody>
      </p:sp>
      <p:sp>
        <p:nvSpPr>
          <p:cNvPr id="5" name="Shape 3"/>
          <p:cNvSpPr/>
          <p:nvPr/>
        </p:nvSpPr>
        <p:spPr>
          <a:xfrm>
            <a:off x="640080" y="3886200"/>
            <a:ext cx="1234440" cy="420624"/>
          </a:xfrm>
          <a:prstGeom prst="roundRect">
            <a:avLst>
              <a:gd name="adj" fmla="val 17391"/>
            </a:avLst>
          </a:prstGeom>
          <a:solidFill>
            <a:srgbClr val="0F2A1F"/>
          </a:solidFill>
          <a:ln w="9525">
            <a:solidFill>
              <a:srgbClr val="1C3B2C"/>
            </a:solidFill>
            <a:prstDash val="solid"/>
          </a:ln>
        </p:spPr>
      </p:sp>
      <p:sp>
        <p:nvSpPr>
          <p:cNvPr id="6" name="Text 4"/>
          <p:cNvSpPr/>
          <p:nvPr/>
        </p:nvSpPr>
        <p:spPr>
          <a:xfrm>
            <a:off x="640080" y="3886200"/>
            <a:ext cx="1234440" cy="420624"/>
          </a:xfrm>
          <a:prstGeom prst="rect">
            <a:avLst/>
          </a:prstGeom>
          <a:noFill/>
          <a:ln/>
        </p:spPr>
        <p:txBody>
          <a:bodyPr wrap="square" lIns="0" tIns="0" rIns="0" bIns="0" rtlCol="0" anchor="ctr"/>
          <a:lstStyle/>
          <a:p>
            <a:pPr algn="ctr" indent="0" marL="0">
              <a:buNone/>
            </a:pPr>
            <a:r>
              <a:rPr lang="en-US" sz="1000" dirty="0">
                <a:solidFill>
                  <a:srgbClr val="9FB3A6"/>
                </a:solidFill>
                <a:latin typeface="Calibri" pitchFamily="34" charset="0"/>
                <a:ea typeface="Calibri" pitchFamily="34" charset="-122"/>
                <a:cs typeface="Calibri" pitchFamily="34" charset="-120"/>
              </a:rPr>
              <a:t>v1.0.0 · build 29</a:t>
            </a:r>
            <a:endParaRPr lang="en-US" sz="1000" dirty="0"/>
          </a:p>
        </p:txBody>
      </p:sp>
      <p:sp>
        <p:nvSpPr>
          <p:cNvPr id="7" name="Shape 5"/>
          <p:cNvSpPr/>
          <p:nvPr/>
        </p:nvSpPr>
        <p:spPr>
          <a:xfrm>
            <a:off x="2057400" y="3886200"/>
            <a:ext cx="1463040" cy="420624"/>
          </a:xfrm>
          <a:prstGeom prst="roundRect">
            <a:avLst>
              <a:gd name="adj" fmla="val 17391"/>
            </a:avLst>
          </a:prstGeom>
          <a:solidFill>
            <a:srgbClr val="0F2A1F"/>
          </a:solidFill>
          <a:ln w="9525">
            <a:solidFill>
              <a:srgbClr val="1C3B2C"/>
            </a:solidFill>
            <a:prstDash val="solid"/>
          </a:ln>
        </p:spPr>
      </p:sp>
      <p:sp>
        <p:nvSpPr>
          <p:cNvPr id="8" name="Text 6"/>
          <p:cNvSpPr/>
          <p:nvPr/>
        </p:nvSpPr>
        <p:spPr>
          <a:xfrm>
            <a:off x="2057400" y="3886200"/>
            <a:ext cx="1463040" cy="420624"/>
          </a:xfrm>
          <a:prstGeom prst="rect">
            <a:avLst/>
          </a:prstGeom>
          <a:noFill/>
          <a:ln/>
        </p:spPr>
        <p:txBody>
          <a:bodyPr wrap="square" lIns="0" tIns="0" rIns="0" bIns="0" rtlCol="0" anchor="ctr"/>
          <a:lstStyle/>
          <a:p>
            <a:pPr algn="ctr" indent="0" marL="0">
              <a:buNone/>
            </a:pPr>
            <a:r>
              <a:rPr lang="en-US" sz="1000" dirty="0">
                <a:solidFill>
                  <a:srgbClr val="9FB3A6"/>
                </a:solidFill>
                <a:latin typeface="Calibri" pitchFamily="34" charset="0"/>
                <a:ea typeface="Calibri" pitchFamily="34" charset="-122"/>
                <a:cs typeface="Calibri" pitchFamily="34" charset="-120"/>
              </a:rPr>
              <a:t>com.racquetai.app</a:t>
            </a:r>
            <a:endParaRPr lang="en-US" sz="1000" dirty="0"/>
          </a:p>
        </p:txBody>
      </p:sp>
      <p:sp>
        <p:nvSpPr>
          <p:cNvPr id="9" name="Shape 7"/>
          <p:cNvSpPr/>
          <p:nvPr/>
        </p:nvSpPr>
        <p:spPr>
          <a:xfrm>
            <a:off x="3703320" y="3886200"/>
            <a:ext cx="1920240" cy="420624"/>
          </a:xfrm>
          <a:prstGeom prst="roundRect">
            <a:avLst>
              <a:gd name="adj" fmla="val 17391"/>
            </a:avLst>
          </a:prstGeom>
          <a:solidFill>
            <a:srgbClr val="0F2A1F"/>
          </a:solidFill>
          <a:ln w="9525">
            <a:solidFill>
              <a:srgbClr val="1C3B2C"/>
            </a:solidFill>
            <a:prstDash val="solid"/>
          </a:ln>
        </p:spPr>
      </p:sp>
      <p:sp>
        <p:nvSpPr>
          <p:cNvPr id="10" name="Text 8"/>
          <p:cNvSpPr/>
          <p:nvPr/>
        </p:nvSpPr>
        <p:spPr>
          <a:xfrm>
            <a:off x="3703320" y="3886200"/>
            <a:ext cx="1920240" cy="420624"/>
          </a:xfrm>
          <a:prstGeom prst="rect">
            <a:avLst/>
          </a:prstGeom>
          <a:noFill/>
          <a:ln/>
        </p:spPr>
        <p:txBody>
          <a:bodyPr wrap="square" lIns="0" tIns="0" rIns="0" bIns="0" rtlCol="0" anchor="ctr"/>
          <a:lstStyle/>
          <a:p>
            <a:pPr algn="ctr" indent="0" marL="0">
              <a:buNone/>
            </a:pPr>
            <a:r>
              <a:rPr lang="en-US" sz="1000" dirty="0">
                <a:solidFill>
                  <a:srgbClr val="9FB3A6"/>
                </a:solidFill>
                <a:latin typeface="Calibri" pitchFamily="34" charset="0"/>
                <a:ea typeface="Calibri" pitchFamily="34" charset="-122"/>
                <a:cs typeface="Calibri" pitchFamily="34" charset="-120"/>
              </a:rPr>
              <a:t>Expedited review requested</a:t>
            </a:r>
            <a:endParaRPr lang="en-US" sz="1000" dirty="0"/>
          </a:p>
        </p:txBody>
      </p:sp>
      <p:sp>
        <p:nvSpPr>
          <p:cNvPr id="11" name="Shape 9"/>
          <p:cNvSpPr/>
          <p:nvPr/>
        </p:nvSpPr>
        <p:spPr>
          <a:xfrm>
            <a:off x="6035040" y="868680"/>
            <a:ext cx="5513832" cy="3291840"/>
          </a:xfrm>
          <a:prstGeom prst="roundRect">
            <a:avLst>
              <a:gd name="adj" fmla="val 2222"/>
            </a:avLst>
          </a:prstGeom>
          <a:solidFill>
            <a:srgbClr val="0C1F17"/>
          </a:solidFill>
          <a:ln w="9525">
            <a:solidFill>
              <a:srgbClr val="1C3B2C"/>
            </a:solidFill>
            <a:prstDash val="solid"/>
          </a:ln>
        </p:spPr>
      </p:sp>
      <p:sp>
        <p:nvSpPr>
          <p:cNvPr id="12" name="Text 10"/>
          <p:cNvSpPr/>
          <p:nvPr/>
        </p:nvSpPr>
        <p:spPr>
          <a:xfrm>
            <a:off x="6263640" y="1051560"/>
            <a:ext cx="5029200" cy="219456"/>
          </a:xfrm>
          <a:prstGeom prst="rect">
            <a:avLst/>
          </a:prstGeom>
          <a:noFill/>
          <a:ln/>
        </p:spPr>
        <p:txBody>
          <a:bodyPr wrap="square" lIns="0" tIns="0" rIns="0" bIns="0" rtlCol="0" anchor="ctr"/>
          <a:lstStyle/>
          <a:p>
            <a:pPr indent="0" marL="0">
              <a:buNone/>
            </a:pPr>
            <a:r>
              <a:rPr lang="en-US" sz="1050" b="1" spc="200" kern="0" dirty="0">
                <a:solidFill>
                  <a:srgbClr val="A6D47D"/>
                </a:solidFill>
                <a:latin typeface="Calibri" pitchFamily="34" charset="0"/>
                <a:ea typeface="Calibri" pitchFamily="34" charset="-122"/>
                <a:cs typeface="Calibri" pitchFamily="34" charset="-120"/>
              </a:rPr>
              <a:t>WHAT THE SUBMISSION CARRIES</a:t>
            </a:r>
            <a:endParaRPr lang="en-US" sz="1050" dirty="0"/>
          </a:p>
        </p:txBody>
      </p:sp>
      <p:sp>
        <p:nvSpPr>
          <p:cNvPr id="13" name="Shape 11"/>
          <p:cNvSpPr/>
          <p:nvPr/>
        </p:nvSpPr>
        <p:spPr>
          <a:xfrm>
            <a:off x="6281928" y="1444752"/>
            <a:ext cx="128016" cy="128016"/>
          </a:xfrm>
          <a:prstGeom prst="ellipse">
            <a:avLst/>
          </a:prstGeom>
          <a:solidFill>
            <a:srgbClr val="7CBF3F"/>
          </a:solidFill>
          <a:ln w="6350">
            <a:solidFill>
              <a:srgbClr val="7CBF3F"/>
            </a:solidFill>
            <a:prstDash val="solid"/>
          </a:ln>
        </p:spPr>
      </p:sp>
      <p:sp>
        <p:nvSpPr>
          <p:cNvPr id="14" name="Text 12"/>
          <p:cNvSpPr/>
          <p:nvPr/>
        </p:nvSpPr>
        <p:spPr>
          <a:xfrm>
            <a:off x="6510528" y="1371600"/>
            <a:ext cx="4846320" cy="502920"/>
          </a:xfrm>
          <a:prstGeom prst="rect">
            <a:avLst/>
          </a:prstGeom>
          <a:noFill/>
          <a:ln/>
        </p:spPr>
        <p:txBody>
          <a:bodyPr wrap="square" lIns="0" tIns="0" rIns="0" bIns="0" rtlCol="0" anchor="t"/>
          <a:lstStyle/>
          <a:p>
            <a:pPr indent="0" marL="0">
              <a:lnSpc>
                <a:spcPts val="1400"/>
              </a:lnSpc>
              <a:buNone/>
            </a:pPr>
            <a:r>
              <a:rPr lang="en-US" sz="1100" dirty="0">
                <a:solidFill>
                  <a:srgbClr val="9FB3A6"/>
                </a:solidFill>
                <a:latin typeface="Calibri" pitchFamily="34" charset="0"/>
                <a:ea typeface="Calibri" pitchFamily="34" charset="-122"/>
                <a:cs typeface="Calibri" pitchFamily="34" charset="-120"/>
              </a:rPr>
              <a:t>Signed for distribution — verified from inside the IPA, not the build log</a:t>
            </a:r>
            <a:endParaRPr lang="en-US" sz="1100" dirty="0"/>
          </a:p>
        </p:txBody>
      </p:sp>
      <p:sp>
        <p:nvSpPr>
          <p:cNvPr id="15" name="Shape 13"/>
          <p:cNvSpPr/>
          <p:nvPr/>
        </p:nvSpPr>
        <p:spPr>
          <a:xfrm>
            <a:off x="6281928" y="1984248"/>
            <a:ext cx="128016" cy="128016"/>
          </a:xfrm>
          <a:prstGeom prst="ellipse">
            <a:avLst/>
          </a:prstGeom>
          <a:solidFill>
            <a:srgbClr val="7CBF3F"/>
          </a:solidFill>
          <a:ln w="6350">
            <a:solidFill>
              <a:srgbClr val="7CBF3F"/>
            </a:solidFill>
            <a:prstDash val="solid"/>
          </a:ln>
        </p:spPr>
      </p:sp>
      <p:sp>
        <p:nvSpPr>
          <p:cNvPr id="16" name="Text 14"/>
          <p:cNvSpPr/>
          <p:nvPr/>
        </p:nvSpPr>
        <p:spPr>
          <a:xfrm>
            <a:off x="6510528" y="1911096"/>
            <a:ext cx="4846320" cy="502920"/>
          </a:xfrm>
          <a:prstGeom prst="rect">
            <a:avLst/>
          </a:prstGeom>
          <a:noFill/>
          <a:ln/>
        </p:spPr>
        <p:txBody>
          <a:bodyPr wrap="square" lIns="0" tIns="0" rIns="0" bIns="0" rtlCol="0" anchor="t"/>
          <a:lstStyle/>
          <a:p>
            <a:pPr indent="0" marL="0">
              <a:lnSpc>
                <a:spcPts val="1400"/>
              </a:lnSpc>
              <a:buNone/>
            </a:pPr>
            <a:r>
              <a:rPr lang="en-US" sz="1100" dirty="0">
                <a:solidFill>
                  <a:srgbClr val="9FB3A6"/>
                </a:solidFill>
                <a:latin typeface="Calibri" pitchFamily="34" charset="0"/>
                <a:ea typeface="Calibri" pitchFamily="34" charset="-122"/>
                <a:cs typeface="Calibri" pitchFamily="34" charset="-120"/>
              </a:rPr>
              <a:t>Sign in with Apple entitlement and all four permission strings present</a:t>
            </a:r>
            <a:endParaRPr lang="en-US" sz="1100" dirty="0"/>
          </a:p>
        </p:txBody>
      </p:sp>
      <p:sp>
        <p:nvSpPr>
          <p:cNvPr id="17" name="Shape 15"/>
          <p:cNvSpPr/>
          <p:nvPr/>
        </p:nvSpPr>
        <p:spPr>
          <a:xfrm>
            <a:off x="6281928" y="2523744"/>
            <a:ext cx="128016" cy="128016"/>
          </a:xfrm>
          <a:prstGeom prst="ellipse">
            <a:avLst/>
          </a:prstGeom>
          <a:solidFill>
            <a:srgbClr val="7CBF3F"/>
          </a:solidFill>
          <a:ln w="6350">
            <a:solidFill>
              <a:srgbClr val="7CBF3F"/>
            </a:solidFill>
            <a:prstDash val="solid"/>
          </a:ln>
        </p:spPr>
      </p:sp>
      <p:sp>
        <p:nvSpPr>
          <p:cNvPr id="18" name="Text 16"/>
          <p:cNvSpPr/>
          <p:nvPr/>
        </p:nvSpPr>
        <p:spPr>
          <a:xfrm>
            <a:off x="6510528" y="2450592"/>
            <a:ext cx="4846320" cy="502920"/>
          </a:xfrm>
          <a:prstGeom prst="rect">
            <a:avLst/>
          </a:prstGeom>
          <a:noFill/>
          <a:ln/>
        </p:spPr>
        <p:txBody>
          <a:bodyPr wrap="square" lIns="0" tIns="0" rIns="0" bIns="0" rtlCol="0" anchor="t"/>
          <a:lstStyle/>
          <a:p>
            <a:pPr indent="0" marL="0">
              <a:lnSpc>
                <a:spcPts val="1400"/>
              </a:lnSpc>
              <a:buNone/>
            </a:pPr>
            <a:r>
              <a:rPr lang="en-US" sz="1100" dirty="0">
                <a:solidFill>
                  <a:srgbClr val="9FB3A6"/>
                </a:solidFill>
                <a:latin typeface="Calibri" pitchFamily="34" charset="0"/>
                <a:ea typeface="Calibri" pitchFamily="34" charset="-122"/>
                <a:cs typeface="Calibri" pitchFamily="34" charset="-120"/>
              </a:rPr>
              <a:t>Subscriptions submitted together with the app, as a first-time IAP requires</a:t>
            </a:r>
            <a:endParaRPr lang="en-US" sz="1100" dirty="0"/>
          </a:p>
        </p:txBody>
      </p:sp>
      <p:sp>
        <p:nvSpPr>
          <p:cNvPr id="19" name="Shape 17"/>
          <p:cNvSpPr/>
          <p:nvPr/>
        </p:nvSpPr>
        <p:spPr>
          <a:xfrm>
            <a:off x="6281928" y="3063240"/>
            <a:ext cx="128016" cy="128016"/>
          </a:xfrm>
          <a:prstGeom prst="ellipse">
            <a:avLst/>
          </a:prstGeom>
          <a:solidFill>
            <a:srgbClr val="7CBF3F"/>
          </a:solidFill>
          <a:ln w="6350">
            <a:solidFill>
              <a:srgbClr val="7CBF3F"/>
            </a:solidFill>
            <a:prstDash val="solid"/>
          </a:ln>
        </p:spPr>
      </p:sp>
      <p:sp>
        <p:nvSpPr>
          <p:cNvPr id="20" name="Text 18"/>
          <p:cNvSpPr/>
          <p:nvPr/>
        </p:nvSpPr>
        <p:spPr>
          <a:xfrm>
            <a:off x="6510528" y="2990088"/>
            <a:ext cx="4846320" cy="502920"/>
          </a:xfrm>
          <a:prstGeom prst="rect">
            <a:avLst/>
          </a:prstGeom>
          <a:noFill/>
          <a:ln/>
        </p:spPr>
        <p:txBody>
          <a:bodyPr wrap="square" lIns="0" tIns="0" rIns="0" bIns="0" rtlCol="0" anchor="t"/>
          <a:lstStyle/>
          <a:p>
            <a:pPr indent="0" marL="0">
              <a:lnSpc>
                <a:spcPts val="1400"/>
              </a:lnSpc>
              <a:buNone/>
            </a:pPr>
            <a:r>
              <a:rPr lang="en-US" sz="1100" dirty="0">
                <a:solidFill>
                  <a:srgbClr val="9FB3A6"/>
                </a:solidFill>
                <a:latin typeface="Calibri" pitchFamily="34" charset="0"/>
                <a:ea typeface="Calibri" pitchFamily="34" charset="-122"/>
                <a:cs typeface="Calibri" pitchFamily="34" charset="-120"/>
              </a:rPr>
              <a:t>Honest metadata — the listing claims only what the shipped build does</a:t>
            </a:r>
            <a:endParaRPr lang="en-US" sz="1100" dirty="0"/>
          </a:p>
        </p:txBody>
      </p:sp>
      <p:sp>
        <p:nvSpPr>
          <p:cNvPr id="21" name="Shape 19"/>
          <p:cNvSpPr/>
          <p:nvPr/>
        </p:nvSpPr>
        <p:spPr>
          <a:xfrm>
            <a:off x="6281928" y="3602736"/>
            <a:ext cx="128016" cy="128016"/>
          </a:xfrm>
          <a:prstGeom prst="ellipse">
            <a:avLst/>
          </a:prstGeom>
          <a:solidFill>
            <a:srgbClr val="7CBF3F"/>
          </a:solidFill>
          <a:ln w="6350">
            <a:solidFill>
              <a:srgbClr val="7CBF3F"/>
            </a:solidFill>
            <a:prstDash val="solid"/>
          </a:ln>
        </p:spPr>
      </p:sp>
      <p:sp>
        <p:nvSpPr>
          <p:cNvPr id="22" name="Text 20"/>
          <p:cNvSpPr/>
          <p:nvPr/>
        </p:nvSpPr>
        <p:spPr>
          <a:xfrm>
            <a:off x="6510528" y="3529584"/>
            <a:ext cx="4846320" cy="502920"/>
          </a:xfrm>
          <a:prstGeom prst="rect">
            <a:avLst/>
          </a:prstGeom>
          <a:noFill/>
          <a:ln/>
        </p:spPr>
        <p:txBody>
          <a:bodyPr wrap="square" lIns="0" tIns="0" rIns="0" bIns="0" rtlCol="0" anchor="t"/>
          <a:lstStyle/>
          <a:p>
            <a:pPr indent="0" marL="0">
              <a:lnSpc>
                <a:spcPts val="1400"/>
              </a:lnSpc>
              <a:buNone/>
            </a:pPr>
            <a:r>
              <a:rPr lang="en-US" sz="1100" dirty="0">
                <a:solidFill>
                  <a:srgbClr val="9FB3A6"/>
                </a:solidFill>
                <a:latin typeface="Calibri" pitchFamily="34" charset="0"/>
                <a:ea typeface="Calibri" pitchFamily="34" charset="-122"/>
                <a:cs typeface="Calibri" pitchFamily="34" charset="-120"/>
              </a:rPr>
              <a:t>In-app account deletion and real legal pages — no placeholder links</a:t>
            </a:r>
            <a:endParaRPr lang="en-US" sz="1100" dirty="0"/>
          </a:p>
        </p:txBody>
      </p:sp>
      <p:sp>
        <p:nvSpPr>
          <p:cNvPr id="23" name="Shape 21"/>
          <p:cNvSpPr/>
          <p:nvPr/>
        </p:nvSpPr>
        <p:spPr>
          <a:xfrm>
            <a:off x="6035040" y="4343400"/>
            <a:ext cx="5513832" cy="1234440"/>
          </a:xfrm>
          <a:prstGeom prst="roundRect">
            <a:avLst>
              <a:gd name="adj" fmla="val 5926"/>
            </a:avLst>
          </a:prstGeom>
          <a:solidFill>
            <a:srgbClr val="0C1F17"/>
          </a:solidFill>
          <a:ln w="9525">
            <a:solidFill>
              <a:srgbClr val="1C3B2C"/>
            </a:solidFill>
            <a:prstDash val="solid"/>
          </a:ln>
        </p:spPr>
      </p:sp>
      <p:sp>
        <p:nvSpPr>
          <p:cNvPr id="24" name="Text 22"/>
          <p:cNvSpPr/>
          <p:nvPr/>
        </p:nvSpPr>
        <p:spPr>
          <a:xfrm>
            <a:off x="6263640" y="4498848"/>
            <a:ext cx="5029200" cy="219456"/>
          </a:xfrm>
          <a:prstGeom prst="rect">
            <a:avLst/>
          </a:prstGeom>
          <a:noFill/>
          <a:ln/>
        </p:spPr>
        <p:txBody>
          <a:bodyPr wrap="square" lIns="0" tIns="0" rIns="0" bIns="0" rtlCol="0" anchor="ctr"/>
          <a:lstStyle/>
          <a:p>
            <a:pPr indent="0" marL="0">
              <a:buNone/>
            </a:pPr>
            <a:r>
              <a:rPr lang="en-US" sz="1000" b="1" spc="200" kern="0" dirty="0">
                <a:solidFill>
                  <a:srgbClr val="9FB3A6"/>
                </a:solidFill>
                <a:latin typeface="Calibri" pitchFamily="34" charset="0"/>
                <a:ea typeface="Calibri" pitchFamily="34" charset="-122"/>
                <a:cs typeface="Calibri" pitchFamily="34" charset="-120"/>
              </a:rPr>
              <a:t>THE ONE WATCH ITEM</a:t>
            </a:r>
            <a:endParaRPr lang="en-US" sz="1000" dirty="0"/>
          </a:p>
        </p:txBody>
      </p:sp>
      <p:sp>
        <p:nvSpPr>
          <p:cNvPr id="25" name="Text 23"/>
          <p:cNvSpPr/>
          <p:nvPr/>
        </p:nvSpPr>
        <p:spPr>
          <a:xfrm>
            <a:off x="6263640" y="4754880"/>
            <a:ext cx="5074920" cy="731520"/>
          </a:xfrm>
          <a:prstGeom prst="rect">
            <a:avLst/>
          </a:prstGeom>
          <a:noFill/>
          <a:ln/>
        </p:spPr>
        <p:txBody>
          <a:bodyPr wrap="square" lIns="0" tIns="0" rIns="0" bIns="0" rtlCol="0" anchor="t"/>
          <a:lstStyle/>
          <a:p>
            <a:pPr indent="0" marL="0">
              <a:lnSpc>
                <a:spcPts val="1400"/>
              </a:lnSpc>
              <a:buNone/>
            </a:pPr>
            <a:r>
              <a:rPr lang="en-US" sz="1050" dirty="0">
                <a:solidFill>
                  <a:srgbClr val="9FB3A6"/>
                </a:solidFill>
                <a:latin typeface="Calibri" pitchFamily="34" charset="0"/>
                <a:ea typeface="Calibri" pitchFamily="34" charset="-122"/>
                <a:cs typeface="Calibri" pitchFamily="34" charset="-120"/>
              </a:rPr>
              <a:t>Build 29's photo-library purpose string is Expo's generic default — a known 5.1.1 risk. The corrected build is ready and goes up the moment the EAS quota resets on 1 September.</a:t>
            </a:r>
            <a:endParaRPr lang="en-US" sz="1050" dirty="0"/>
          </a:p>
        </p:txBody>
      </p:sp>
      <p:sp>
        <p:nvSpPr>
          <p:cNvPr id="26" name="Text 24"/>
          <p:cNvSpPr/>
          <p:nvPr/>
        </p:nvSpPr>
        <p:spPr>
          <a:xfrm>
            <a:off x="10881360" y="6172200"/>
            <a:ext cx="667512" cy="237744"/>
          </a:xfrm>
          <a:prstGeom prst="rect">
            <a:avLst/>
          </a:prstGeom>
          <a:noFill/>
          <a:ln/>
        </p:spPr>
        <p:txBody>
          <a:bodyPr wrap="square" lIns="0" tIns="0" rIns="0" bIns="0" rtlCol="0" anchor="ctr"/>
          <a:lstStyle/>
          <a:p>
            <a:pPr algn="r" indent="0" marL="0">
              <a:buNone/>
            </a:pPr>
            <a:r>
              <a:rPr lang="en-US" sz="1000" dirty="0">
                <a:solidFill>
                  <a:srgbClr val="70857A"/>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130E"/>
        </a:solidFill>
      </p:bgPr>
    </p:bg>
    <p:spTree>
      <p:nvGrpSpPr>
        <p:cNvPr id="1" name=""/>
        <p:cNvGrpSpPr/>
        <p:nvPr/>
      </p:nvGrpSpPr>
      <p:grpSpPr>
        <a:xfrm>
          <a:off x="0" y="0"/>
          <a:ext cx="0" cy="0"/>
          <a:chOff x="0" y="0"/>
          <a:chExt cx="0" cy="0"/>
        </a:xfrm>
      </p:grpSpPr>
      <p:sp>
        <p:nvSpPr>
          <p:cNvPr id="2" name="Text 0"/>
          <p:cNvSpPr/>
          <p:nvPr/>
        </p:nvSpPr>
        <p:spPr>
          <a:xfrm>
            <a:off x="640080" y="548640"/>
            <a:ext cx="10908792" cy="566928"/>
          </a:xfrm>
          <a:prstGeom prst="rect">
            <a:avLst/>
          </a:prstGeom>
          <a:noFill/>
          <a:ln/>
        </p:spPr>
        <p:txBody>
          <a:bodyPr wrap="square" lIns="0" tIns="0" rIns="0" bIns="0" rtlCol="0" anchor="ctr"/>
          <a:lstStyle/>
          <a:p>
            <a:pPr indent="0" marL="0">
              <a:buNone/>
            </a:pPr>
            <a:r>
              <a:rPr lang="en-US" sz="3200" b="1" dirty="0">
                <a:solidFill>
                  <a:srgbClr val="F4F7F3"/>
                </a:solidFill>
                <a:latin typeface="Arial" pitchFamily="34" charset="0"/>
                <a:ea typeface="Arial" pitchFamily="34" charset="-122"/>
                <a:cs typeface="Arial" pitchFamily="34" charset="-120"/>
              </a:rPr>
              <a:t>How it was built</a:t>
            </a:r>
            <a:endParaRPr lang="en-US" sz="3200" dirty="0"/>
          </a:p>
        </p:txBody>
      </p:sp>
      <p:sp>
        <p:nvSpPr>
          <p:cNvPr id="3" name="Text 1"/>
          <p:cNvSpPr/>
          <p:nvPr/>
        </p:nvSpPr>
        <p:spPr>
          <a:xfrm>
            <a:off x="640080" y="1152144"/>
            <a:ext cx="10543032" cy="402336"/>
          </a:xfrm>
          <a:prstGeom prst="rect">
            <a:avLst/>
          </a:prstGeom>
          <a:noFill/>
          <a:ln/>
        </p:spPr>
        <p:txBody>
          <a:bodyPr wrap="square" lIns="0" tIns="0" rIns="0" bIns="0" rtlCol="0" anchor="t"/>
          <a:lstStyle/>
          <a:p>
            <a:pPr indent="0" marL="0">
              <a:buNone/>
            </a:pPr>
            <a:r>
              <a:rPr lang="en-US" sz="1300" dirty="0">
                <a:solidFill>
                  <a:srgbClr val="9FB3A6"/>
                </a:solidFill>
                <a:latin typeface="Calibri" pitchFamily="34" charset="0"/>
                <a:ea typeface="Calibri" pitchFamily="34" charset="-122"/>
                <a:cs typeface="Calibri" pitchFamily="34" charset="-120"/>
              </a:rPr>
              <a:t>Four rules did most of the work — and one of them killed a feature.</a:t>
            </a:r>
            <a:endParaRPr lang="en-US" sz="1300" dirty="0"/>
          </a:p>
        </p:txBody>
      </p:sp>
      <p:sp>
        <p:nvSpPr>
          <p:cNvPr id="4" name="Shape 2"/>
          <p:cNvSpPr/>
          <p:nvPr/>
        </p:nvSpPr>
        <p:spPr>
          <a:xfrm>
            <a:off x="640080" y="1783080"/>
            <a:ext cx="5317236" cy="1371600"/>
          </a:xfrm>
          <a:prstGeom prst="roundRect">
            <a:avLst>
              <a:gd name="adj" fmla="val 5333"/>
            </a:avLst>
          </a:prstGeom>
          <a:solidFill>
            <a:srgbClr val="0C1F17"/>
          </a:solidFill>
          <a:ln w="9525">
            <a:solidFill>
              <a:srgbClr val="1C3B2C"/>
            </a:solidFill>
            <a:prstDash val="solid"/>
          </a:ln>
        </p:spPr>
      </p:sp>
      <p:sp>
        <p:nvSpPr>
          <p:cNvPr id="5" name="Shape 3"/>
          <p:cNvSpPr/>
          <p:nvPr/>
        </p:nvSpPr>
        <p:spPr>
          <a:xfrm>
            <a:off x="896112" y="2039112"/>
            <a:ext cx="173736" cy="173736"/>
          </a:xfrm>
          <a:prstGeom prst="ellipse">
            <a:avLst/>
          </a:prstGeom>
          <a:solidFill>
            <a:srgbClr val="7CBF3F"/>
          </a:solidFill>
          <a:ln w="6350">
            <a:solidFill>
              <a:srgbClr val="7CBF3F"/>
            </a:solidFill>
            <a:prstDash val="solid"/>
          </a:ln>
        </p:spPr>
      </p:sp>
      <p:sp>
        <p:nvSpPr>
          <p:cNvPr id="6" name="Text 4"/>
          <p:cNvSpPr/>
          <p:nvPr/>
        </p:nvSpPr>
        <p:spPr>
          <a:xfrm>
            <a:off x="1207008" y="1965960"/>
            <a:ext cx="4494276" cy="292608"/>
          </a:xfrm>
          <a:prstGeom prst="rect">
            <a:avLst/>
          </a:prstGeom>
          <a:noFill/>
          <a:ln/>
        </p:spPr>
        <p:txBody>
          <a:bodyPr wrap="square" lIns="0" tIns="0" rIns="0" bIns="0" rtlCol="0" anchor="ctr"/>
          <a:lstStyle/>
          <a:p>
            <a:pPr indent="0" marL="0">
              <a:buNone/>
            </a:pPr>
            <a:r>
              <a:rPr lang="en-US" sz="1350" b="1" dirty="0">
                <a:solidFill>
                  <a:srgbClr val="F4F7F3"/>
                </a:solidFill>
                <a:latin typeface="Calibri" pitchFamily="34" charset="0"/>
                <a:ea typeface="Calibri" pitchFamily="34" charset="-122"/>
                <a:cs typeface="Calibri" pitchFamily="34" charset="-120"/>
              </a:rPr>
              <a:t>Label first, build second</a:t>
            </a:r>
            <a:endParaRPr lang="en-US" sz="1350" dirty="0"/>
          </a:p>
        </p:txBody>
      </p:sp>
      <p:sp>
        <p:nvSpPr>
          <p:cNvPr id="7" name="Text 5"/>
          <p:cNvSpPr/>
          <p:nvPr/>
        </p:nvSpPr>
        <p:spPr>
          <a:xfrm>
            <a:off x="896112" y="2313432"/>
            <a:ext cx="4805172" cy="731520"/>
          </a:xfrm>
          <a:prstGeom prst="rect">
            <a:avLst/>
          </a:prstGeom>
          <a:noFill/>
          <a:ln/>
        </p:spPr>
        <p:txBody>
          <a:bodyPr wrap="square" lIns="0" tIns="0" rIns="0" bIns="0" rtlCol="0" anchor="t"/>
          <a:lstStyle/>
          <a:p>
            <a:pPr indent="0" marL="0">
              <a:lnSpc>
                <a:spcPts val="1400"/>
              </a:lnSpc>
              <a:buNone/>
            </a:pPr>
            <a:r>
              <a:rPr lang="en-US" sz="1100" dirty="0">
                <a:solidFill>
                  <a:srgbClr val="9FB3A6"/>
                </a:solidFill>
                <a:latin typeface="Calibri" pitchFamily="34" charset="0"/>
                <a:ea typeface="Calibri" pitchFamily="34" charset="-122"/>
                <a:cs typeface="Calibri" pitchFamily="34" charset="-120"/>
              </a:rPr>
              <a:t>72 hand-labelled shot moments, 379 identity samples, rally outcomes across three matches. The ground truth existed before the code that gets measured against it, so no number in this deck is self-graded.</a:t>
            </a:r>
            <a:endParaRPr lang="en-US" sz="1100" dirty="0"/>
          </a:p>
        </p:txBody>
      </p:sp>
      <p:sp>
        <p:nvSpPr>
          <p:cNvPr id="8" name="Shape 6"/>
          <p:cNvSpPr/>
          <p:nvPr/>
        </p:nvSpPr>
        <p:spPr>
          <a:xfrm>
            <a:off x="6231636" y="1783080"/>
            <a:ext cx="5317236" cy="1371600"/>
          </a:xfrm>
          <a:prstGeom prst="roundRect">
            <a:avLst>
              <a:gd name="adj" fmla="val 5333"/>
            </a:avLst>
          </a:prstGeom>
          <a:solidFill>
            <a:srgbClr val="0C1F17"/>
          </a:solidFill>
          <a:ln w="9525">
            <a:solidFill>
              <a:srgbClr val="1C3B2C"/>
            </a:solidFill>
            <a:prstDash val="solid"/>
          </a:ln>
        </p:spPr>
      </p:sp>
      <p:sp>
        <p:nvSpPr>
          <p:cNvPr id="9" name="Shape 7"/>
          <p:cNvSpPr/>
          <p:nvPr/>
        </p:nvSpPr>
        <p:spPr>
          <a:xfrm>
            <a:off x="6487668" y="2039112"/>
            <a:ext cx="173736" cy="173736"/>
          </a:xfrm>
          <a:prstGeom prst="ellipse">
            <a:avLst/>
          </a:prstGeom>
          <a:solidFill>
            <a:srgbClr val="7CBF3F"/>
          </a:solidFill>
          <a:ln w="6350">
            <a:solidFill>
              <a:srgbClr val="7CBF3F"/>
            </a:solidFill>
            <a:prstDash val="solid"/>
          </a:ln>
        </p:spPr>
      </p:sp>
      <p:sp>
        <p:nvSpPr>
          <p:cNvPr id="10" name="Text 8"/>
          <p:cNvSpPr/>
          <p:nvPr/>
        </p:nvSpPr>
        <p:spPr>
          <a:xfrm>
            <a:off x="6798564" y="1965960"/>
            <a:ext cx="4494276" cy="292608"/>
          </a:xfrm>
          <a:prstGeom prst="rect">
            <a:avLst/>
          </a:prstGeom>
          <a:noFill/>
          <a:ln/>
        </p:spPr>
        <p:txBody>
          <a:bodyPr wrap="square" lIns="0" tIns="0" rIns="0" bIns="0" rtlCol="0" anchor="ctr"/>
          <a:lstStyle/>
          <a:p>
            <a:pPr indent="0" marL="0">
              <a:buNone/>
            </a:pPr>
            <a:r>
              <a:rPr lang="en-US" sz="1350" b="1" dirty="0">
                <a:solidFill>
                  <a:srgbClr val="F4F7F3"/>
                </a:solidFill>
                <a:latin typeface="Calibri" pitchFamily="34" charset="0"/>
                <a:ea typeface="Calibri" pitchFamily="34" charset="-122"/>
                <a:cs typeface="Calibri" pitchFamily="34" charset="-120"/>
              </a:rPr>
              <a:t>A feature may fail its gate</a:t>
            </a:r>
            <a:endParaRPr lang="en-US" sz="1350" dirty="0"/>
          </a:p>
        </p:txBody>
      </p:sp>
      <p:sp>
        <p:nvSpPr>
          <p:cNvPr id="11" name="Text 9"/>
          <p:cNvSpPr/>
          <p:nvPr/>
        </p:nvSpPr>
        <p:spPr>
          <a:xfrm>
            <a:off x="6487668" y="2313432"/>
            <a:ext cx="4805172" cy="731520"/>
          </a:xfrm>
          <a:prstGeom prst="rect">
            <a:avLst/>
          </a:prstGeom>
          <a:noFill/>
          <a:ln/>
        </p:spPr>
        <p:txBody>
          <a:bodyPr wrap="square" lIns="0" tIns="0" rIns="0" bIns="0" rtlCol="0" anchor="t"/>
          <a:lstStyle/>
          <a:p>
            <a:pPr indent="0" marL="0">
              <a:lnSpc>
                <a:spcPts val="1400"/>
              </a:lnSpc>
              <a:buNone/>
            </a:pPr>
            <a:r>
              <a:rPr lang="en-US" sz="1100" dirty="0">
                <a:solidFill>
                  <a:srgbClr val="9FB3A6"/>
                </a:solidFill>
                <a:latin typeface="Calibri" pitchFamily="34" charset="0"/>
                <a:ea typeface="Calibri" pitchFamily="34" charset="-122"/>
                <a:cs typeface="Calibri" pitchFamily="34" charset="-120"/>
              </a:rPr>
              <a:t>Ball tracking ran as a feasibility study, not a build. The numbers did not earn it, so nothing was written. Killing it midweek is what paid for the rest of the week.</a:t>
            </a:r>
            <a:endParaRPr lang="en-US" sz="1100" dirty="0"/>
          </a:p>
        </p:txBody>
      </p:sp>
      <p:sp>
        <p:nvSpPr>
          <p:cNvPr id="12" name="Shape 10"/>
          <p:cNvSpPr/>
          <p:nvPr/>
        </p:nvSpPr>
        <p:spPr>
          <a:xfrm>
            <a:off x="640080" y="3310128"/>
            <a:ext cx="5317236" cy="1371600"/>
          </a:xfrm>
          <a:prstGeom prst="roundRect">
            <a:avLst>
              <a:gd name="adj" fmla="val 5333"/>
            </a:avLst>
          </a:prstGeom>
          <a:solidFill>
            <a:srgbClr val="0C1F17"/>
          </a:solidFill>
          <a:ln w="9525">
            <a:solidFill>
              <a:srgbClr val="1C3B2C"/>
            </a:solidFill>
            <a:prstDash val="solid"/>
          </a:ln>
        </p:spPr>
      </p:sp>
      <p:sp>
        <p:nvSpPr>
          <p:cNvPr id="13" name="Shape 11"/>
          <p:cNvSpPr/>
          <p:nvPr/>
        </p:nvSpPr>
        <p:spPr>
          <a:xfrm>
            <a:off x="896112" y="3566160"/>
            <a:ext cx="173736" cy="173736"/>
          </a:xfrm>
          <a:prstGeom prst="ellipse">
            <a:avLst/>
          </a:prstGeom>
          <a:solidFill>
            <a:srgbClr val="7CBF3F"/>
          </a:solidFill>
          <a:ln w="6350">
            <a:solidFill>
              <a:srgbClr val="7CBF3F"/>
            </a:solidFill>
            <a:prstDash val="solid"/>
          </a:ln>
        </p:spPr>
      </p:sp>
      <p:sp>
        <p:nvSpPr>
          <p:cNvPr id="14" name="Text 12"/>
          <p:cNvSpPr/>
          <p:nvPr/>
        </p:nvSpPr>
        <p:spPr>
          <a:xfrm>
            <a:off x="1207008" y="3493008"/>
            <a:ext cx="4494276" cy="292608"/>
          </a:xfrm>
          <a:prstGeom prst="rect">
            <a:avLst/>
          </a:prstGeom>
          <a:noFill/>
          <a:ln/>
        </p:spPr>
        <p:txBody>
          <a:bodyPr wrap="square" lIns="0" tIns="0" rIns="0" bIns="0" rtlCol="0" anchor="ctr"/>
          <a:lstStyle/>
          <a:p>
            <a:pPr indent="0" marL="0">
              <a:buNone/>
            </a:pPr>
            <a:r>
              <a:rPr lang="en-US" sz="1350" b="1" dirty="0">
                <a:solidFill>
                  <a:srgbClr val="F4F7F3"/>
                </a:solidFill>
                <a:latin typeface="Calibri" pitchFamily="34" charset="0"/>
                <a:ea typeface="Calibri" pitchFamily="34" charset="-122"/>
                <a:cs typeface="Calibri" pitchFamily="34" charset="-120"/>
              </a:rPr>
              <a:t>Two engines, one spec</a:t>
            </a:r>
            <a:endParaRPr lang="en-US" sz="1350" dirty="0"/>
          </a:p>
        </p:txBody>
      </p:sp>
      <p:sp>
        <p:nvSpPr>
          <p:cNvPr id="15" name="Text 13"/>
          <p:cNvSpPr/>
          <p:nvPr/>
        </p:nvSpPr>
        <p:spPr>
          <a:xfrm>
            <a:off x="896112" y="3840480"/>
            <a:ext cx="4805172" cy="731520"/>
          </a:xfrm>
          <a:prstGeom prst="rect">
            <a:avLst/>
          </a:prstGeom>
          <a:noFill/>
          <a:ln/>
        </p:spPr>
        <p:txBody>
          <a:bodyPr wrap="square" lIns="0" tIns="0" rIns="0" bIns="0" rtlCol="0" anchor="t"/>
          <a:lstStyle/>
          <a:p>
            <a:pPr indent="0" marL="0">
              <a:lnSpc>
                <a:spcPts val="1400"/>
              </a:lnSpc>
              <a:buNone/>
            </a:pPr>
            <a:r>
              <a:rPr lang="en-US" sz="1100" dirty="0">
                <a:solidFill>
                  <a:srgbClr val="9FB3A6"/>
                </a:solidFill>
                <a:latin typeface="Calibri" pitchFamily="34" charset="0"/>
                <a:ea typeface="Calibri" pitchFamily="34" charset="-122"/>
                <a:cs typeface="Calibri" pitchFamily="34" charset="-120"/>
              </a:rPr>
              <a:t>The Swift port was checked frame-by-frame against the Python tracker across 9,707 association decisions, with zero mismatches. The port is a port, not a second opinion.</a:t>
            </a:r>
            <a:endParaRPr lang="en-US" sz="1100" dirty="0"/>
          </a:p>
        </p:txBody>
      </p:sp>
      <p:sp>
        <p:nvSpPr>
          <p:cNvPr id="16" name="Shape 14"/>
          <p:cNvSpPr/>
          <p:nvPr/>
        </p:nvSpPr>
        <p:spPr>
          <a:xfrm>
            <a:off x="6231636" y="3310128"/>
            <a:ext cx="5317236" cy="1371600"/>
          </a:xfrm>
          <a:prstGeom prst="roundRect">
            <a:avLst>
              <a:gd name="adj" fmla="val 5333"/>
            </a:avLst>
          </a:prstGeom>
          <a:solidFill>
            <a:srgbClr val="0C1F17"/>
          </a:solidFill>
          <a:ln w="9525">
            <a:solidFill>
              <a:srgbClr val="1C3B2C"/>
            </a:solidFill>
            <a:prstDash val="solid"/>
          </a:ln>
        </p:spPr>
      </p:sp>
      <p:sp>
        <p:nvSpPr>
          <p:cNvPr id="17" name="Shape 15"/>
          <p:cNvSpPr/>
          <p:nvPr/>
        </p:nvSpPr>
        <p:spPr>
          <a:xfrm>
            <a:off x="6487668" y="3566160"/>
            <a:ext cx="173736" cy="173736"/>
          </a:xfrm>
          <a:prstGeom prst="ellipse">
            <a:avLst/>
          </a:prstGeom>
          <a:solidFill>
            <a:srgbClr val="7CBF3F"/>
          </a:solidFill>
          <a:ln w="6350">
            <a:solidFill>
              <a:srgbClr val="7CBF3F"/>
            </a:solidFill>
            <a:prstDash val="solid"/>
          </a:ln>
        </p:spPr>
      </p:sp>
      <p:sp>
        <p:nvSpPr>
          <p:cNvPr id="18" name="Text 16"/>
          <p:cNvSpPr/>
          <p:nvPr/>
        </p:nvSpPr>
        <p:spPr>
          <a:xfrm>
            <a:off x="6798564" y="3493008"/>
            <a:ext cx="4494276" cy="292608"/>
          </a:xfrm>
          <a:prstGeom prst="rect">
            <a:avLst/>
          </a:prstGeom>
          <a:noFill/>
          <a:ln/>
        </p:spPr>
        <p:txBody>
          <a:bodyPr wrap="square" lIns="0" tIns="0" rIns="0" bIns="0" rtlCol="0" anchor="ctr"/>
          <a:lstStyle/>
          <a:p>
            <a:pPr indent="0" marL="0">
              <a:buNone/>
            </a:pPr>
            <a:r>
              <a:rPr lang="en-US" sz="1350" b="1" dirty="0">
                <a:solidFill>
                  <a:srgbClr val="F4F7F3"/>
                </a:solidFill>
                <a:latin typeface="Calibri" pitchFamily="34" charset="0"/>
                <a:ea typeface="Calibri" pitchFamily="34" charset="-122"/>
                <a:cs typeface="Calibri" pitchFamily="34" charset="-120"/>
              </a:rPr>
              <a:t>Never two copies of a rule</a:t>
            </a:r>
            <a:endParaRPr lang="en-US" sz="1350" dirty="0"/>
          </a:p>
        </p:txBody>
      </p:sp>
      <p:sp>
        <p:nvSpPr>
          <p:cNvPr id="19" name="Text 17"/>
          <p:cNvSpPr/>
          <p:nvPr/>
        </p:nvSpPr>
        <p:spPr>
          <a:xfrm>
            <a:off x="6487668" y="3840480"/>
            <a:ext cx="4805172" cy="731520"/>
          </a:xfrm>
          <a:prstGeom prst="rect">
            <a:avLst/>
          </a:prstGeom>
          <a:noFill/>
          <a:ln/>
        </p:spPr>
        <p:txBody>
          <a:bodyPr wrap="square" lIns="0" tIns="0" rIns="0" bIns="0" rtlCol="0" anchor="t"/>
          <a:lstStyle/>
          <a:p>
            <a:pPr indent="0" marL="0">
              <a:lnSpc>
                <a:spcPts val="1400"/>
              </a:lnSpc>
              <a:buNone/>
            </a:pPr>
            <a:r>
              <a:rPr lang="en-US" sz="1100" dirty="0">
                <a:solidFill>
                  <a:srgbClr val="9FB3A6"/>
                </a:solidFill>
                <a:latin typeface="Calibri" pitchFamily="34" charset="0"/>
                <a:ea typeface="Calibri" pitchFamily="34" charset="-122"/>
                <a:cs typeface="Calibri" pitchFamily="34" charset="-120"/>
              </a:rPr>
              <a:t>The web referee imports squash.ts and announce.ts straight from the phone. Only the genuinely platform-bound pieces — speech and storage — are allowed to fork.</a:t>
            </a:r>
            <a:endParaRPr lang="en-US" sz="1100" dirty="0"/>
          </a:p>
        </p:txBody>
      </p:sp>
      <p:sp>
        <p:nvSpPr>
          <p:cNvPr id="20" name="Shape 18"/>
          <p:cNvSpPr/>
          <p:nvPr/>
        </p:nvSpPr>
        <p:spPr>
          <a:xfrm>
            <a:off x="640080" y="5029200"/>
            <a:ext cx="1998878" cy="868680"/>
          </a:xfrm>
          <a:prstGeom prst="roundRect">
            <a:avLst>
              <a:gd name="adj" fmla="val 8421"/>
            </a:avLst>
          </a:prstGeom>
          <a:solidFill>
            <a:srgbClr val="0C1F17"/>
          </a:solidFill>
          <a:ln w="9525">
            <a:solidFill>
              <a:srgbClr val="1C3B2C"/>
            </a:solidFill>
            <a:prstDash val="solid"/>
          </a:ln>
        </p:spPr>
      </p:sp>
      <p:sp>
        <p:nvSpPr>
          <p:cNvPr id="21" name="Text 19"/>
          <p:cNvSpPr/>
          <p:nvPr/>
        </p:nvSpPr>
        <p:spPr>
          <a:xfrm>
            <a:off x="841248" y="5175504"/>
            <a:ext cx="1633118" cy="347472"/>
          </a:xfrm>
          <a:prstGeom prst="rect">
            <a:avLst/>
          </a:prstGeom>
          <a:noFill/>
          <a:ln/>
        </p:spPr>
        <p:txBody>
          <a:bodyPr wrap="square" lIns="0" tIns="0" rIns="0" bIns="0" rtlCol="0" anchor="ctr"/>
          <a:lstStyle/>
          <a:p>
            <a:pPr indent="0" marL="0">
              <a:buNone/>
            </a:pPr>
            <a:r>
              <a:rPr lang="en-US" sz="1800" b="1" dirty="0">
                <a:solidFill>
                  <a:srgbClr val="7CBF3F"/>
                </a:solidFill>
                <a:latin typeface="Arial" pitchFamily="34" charset="0"/>
                <a:ea typeface="Arial" pitchFamily="34" charset="-122"/>
                <a:cs typeface="Arial" pitchFamily="34" charset="-120"/>
              </a:rPr>
              <a:t>89</a:t>
            </a:r>
            <a:endParaRPr lang="en-US" sz="1800" dirty="0"/>
          </a:p>
        </p:txBody>
      </p:sp>
      <p:sp>
        <p:nvSpPr>
          <p:cNvPr id="22" name="Text 20"/>
          <p:cNvSpPr/>
          <p:nvPr/>
        </p:nvSpPr>
        <p:spPr>
          <a:xfrm>
            <a:off x="841248" y="5532120"/>
            <a:ext cx="1633118" cy="256032"/>
          </a:xfrm>
          <a:prstGeom prst="rect">
            <a:avLst/>
          </a:prstGeom>
          <a:noFill/>
          <a:ln/>
        </p:spPr>
        <p:txBody>
          <a:bodyPr wrap="square" lIns="0" tIns="0" rIns="0" bIns="0" rtlCol="0" anchor="ctr"/>
          <a:lstStyle/>
          <a:p>
            <a:pPr indent="0" marL="0">
              <a:buNone/>
            </a:pPr>
            <a:r>
              <a:rPr lang="en-US" sz="950" dirty="0">
                <a:solidFill>
                  <a:srgbClr val="9FB3A6"/>
                </a:solidFill>
                <a:latin typeface="Calibri" pitchFamily="34" charset="0"/>
                <a:ea typeface="Calibri" pitchFamily="34" charset="-122"/>
                <a:cs typeface="Calibri" pitchFamily="34" charset="-120"/>
              </a:rPr>
              <a:t>commits</a:t>
            </a:r>
            <a:endParaRPr lang="en-US" sz="950" dirty="0"/>
          </a:p>
        </p:txBody>
      </p:sp>
      <p:sp>
        <p:nvSpPr>
          <p:cNvPr id="23" name="Shape 21"/>
          <p:cNvSpPr/>
          <p:nvPr/>
        </p:nvSpPr>
        <p:spPr>
          <a:xfrm>
            <a:off x="2867558" y="5029200"/>
            <a:ext cx="1998878" cy="868680"/>
          </a:xfrm>
          <a:prstGeom prst="roundRect">
            <a:avLst>
              <a:gd name="adj" fmla="val 8421"/>
            </a:avLst>
          </a:prstGeom>
          <a:solidFill>
            <a:srgbClr val="0C1F17"/>
          </a:solidFill>
          <a:ln w="9525">
            <a:solidFill>
              <a:srgbClr val="1C3B2C"/>
            </a:solidFill>
            <a:prstDash val="solid"/>
          </a:ln>
        </p:spPr>
      </p:sp>
      <p:sp>
        <p:nvSpPr>
          <p:cNvPr id="24" name="Text 22"/>
          <p:cNvSpPr/>
          <p:nvPr/>
        </p:nvSpPr>
        <p:spPr>
          <a:xfrm>
            <a:off x="3068726" y="5175504"/>
            <a:ext cx="1633118" cy="347472"/>
          </a:xfrm>
          <a:prstGeom prst="rect">
            <a:avLst/>
          </a:prstGeom>
          <a:noFill/>
          <a:ln/>
        </p:spPr>
        <p:txBody>
          <a:bodyPr wrap="square" lIns="0" tIns="0" rIns="0" bIns="0" rtlCol="0" anchor="ctr"/>
          <a:lstStyle/>
          <a:p>
            <a:pPr indent="0" marL="0">
              <a:buNone/>
            </a:pPr>
            <a:r>
              <a:rPr lang="en-US" sz="1800" b="1" dirty="0">
                <a:solidFill>
                  <a:srgbClr val="7CBF3F"/>
                </a:solidFill>
                <a:latin typeface="Arial" pitchFamily="34" charset="0"/>
                <a:ea typeface="Arial" pitchFamily="34" charset="-122"/>
                <a:cs typeface="Arial" pitchFamily="34" charset="-120"/>
              </a:rPr>
              <a:t>561</a:t>
            </a:r>
            <a:endParaRPr lang="en-US" sz="1800" dirty="0"/>
          </a:p>
        </p:txBody>
      </p:sp>
      <p:sp>
        <p:nvSpPr>
          <p:cNvPr id="25" name="Text 23"/>
          <p:cNvSpPr/>
          <p:nvPr/>
        </p:nvSpPr>
        <p:spPr>
          <a:xfrm>
            <a:off x="3068726" y="5532120"/>
            <a:ext cx="1633118" cy="256032"/>
          </a:xfrm>
          <a:prstGeom prst="rect">
            <a:avLst/>
          </a:prstGeom>
          <a:noFill/>
          <a:ln/>
        </p:spPr>
        <p:txBody>
          <a:bodyPr wrap="square" lIns="0" tIns="0" rIns="0" bIns="0" rtlCol="0" anchor="ctr"/>
          <a:lstStyle/>
          <a:p>
            <a:pPr indent="0" marL="0">
              <a:buNone/>
            </a:pPr>
            <a:r>
              <a:rPr lang="en-US" sz="950" dirty="0">
                <a:solidFill>
                  <a:srgbClr val="9FB3A6"/>
                </a:solidFill>
                <a:latin typeface="Calibri" pitchFamily="34" charset="0"/>
                <a:ea typeface="Calibri" pitchFamily="34" charset="-122"/>
                <a:cs typeface="Calibri" pitchFamily="34" charset="-120"/>
              </a:rPr>
              <a:t>files changed</a:t>
            </a:r>
            <a:endParaRPr lang="en-US" sz="950" dirty="0"/>
          </a:p>
        </p:txBody>
      </p:sp>
      <p:sp>
        <p:nvSpPr>
          <p:cNvPr id="26" name="Shape 24"/>
          <p:cNvSpPr/>
          <p:nvPr/>
        </p:nvSpPr>
        <p:spPr>
          <a:xfrm>
            <a:off x="5095037" y="5029200"/>
            <a:ext cx="1998878" cy="868680"/>
          </a:xfrm>
          <a:prstGeom prst="roundRect">
            <a:avLst>
              <a:gd name="adj" fmla="val 8421"/>
            </a:avLst>
          </a:prstGeom>
          <a:solidFill>
            <a:srgbClr val="0C1F17"/>
          </a:solidFill>
          <a:ln w="9525">
            <a:solidFill>
              <a:srgbClr val="1C3B2C"/>
            </a:solidFill>
            <a:prstDash val="solid"/>
          </a:ln>
        </p:spPr>
      </p:sp>
      <p:sp>
        <p:nvSpPr>
          <p:cNvPr id="27" name="Text 25"/>
          <p:cNvSpPr/>
          <p:nvPr/>
        </p:nvSpPr>
        <p:spPr>
          <a:xfrm>
            <a:off x="5296205" y="5175504"/>
            <a:ext cx="1633118" cy="347472"/>
          </a:xfrm>
          <a:prstGeom prst="rect">
            <a:avLst/>
          </a:prstGeom>
          <a:noFill/>
          <a:ln/>
        </p:spPr>
        <p:txBody>
          <a:bodyPr wrap="square" lIns="0" tIns="0" rIns="0" bIns="0" rtlCol="0" anchor="ctr"/>
          <a:lstStyle/>
          <a:p>
            <a:pPr indent="0" marL="0">
              <a:buNone/>
            </a:pPr>
            <a:r>
              <a:rPr lang="en-US" sz="1800" b="1" dirty="0">
                <a:solidFill>
                  <a:srgbClr val="7CBF3F"/>
                </a:solidFill>
                <a:latin typeface="Arial" pitchFamily="34" charset="0"/>
                <a:ea typeface="Arial" pitchFamily="34" charset="-122"/>
                <a:cs typeface="Arial" pitchFamily="34" charset="-120"/>
              </a:rPr>
              <a:t>33K</a:t>
            </a:r>
            <a:endParaRPr lang="en-US" sz="1800" dirty="0"/>
          </a:p>
        </p:txBody>
      </p:sp>
      <p:sp>
        <p:nvSpPr>
          <p:cNvPr id="28" name="Text 26"/>
          <p:cNvSpPr/>
          <p:nvPr/>
        </p:nvSpPr>
        <p:spPr>
          <a:xfrm>
            <a:off x="5296205" y="5532120"/>
            <a:ext cx="1633118" cy="256032"/>
          </a:xfrm>
          <a:prstGeom prst="rect">
            <a:avLst/>
          </a:prstGeom>
          <a:noFill/>
          <a:ln/>
        </p:spPr>
        <p:txBody>
          <a:bodyPr wrap="square" lIns="0" tIns="0" rIns="0" bIns="0" rtlCol="0" anchor="ctr"/>
          <a:lstStyle/>
          <a:p>
            <a:pPr indent="0" marL="0">
              <a:buNone/>
            </a:pPr>
            <a:r>
              <a:rPr lang="en-US" sz="950" dirty="0">
                <a:solidFill>
                  <a:srgbClr val="9FB3A6"/>
                </a:solidFill>
                <a:latin typeface="Calibri" pitchFamily="34" charset="0"/>
                <a:ea typeface="Calibri" pitchFamily="34" charset="-122"/>
                <a:cs typeface="Calibri" pitchFamily="34" charset="-120"/>
              </a:rPr>
              <a:t>TypeScript</a:t>
            </a:r>
            <a:endParaRPr lang="en-US" sz="950" dirty="0"/>
          </a:p>
        </p:txBody>
      </p:sp>
      <p:sp>
        <p:nvSpPr>
          <p:cNvPr id="29" name="Shape 27"/>
          <p:cNvSpPr/>
          <p:nvPr/>
        </p:nvSpPr>
        <p:spPr>
          <a:xfrm>
            <a:off x="7322515" y="5029200"/>
            <a:ext cx="1998878" cy="868680"/>
          </a:xfrm>
          <a:prstGeom prst="roundRect">
            <a:avLst>
              <a:gd name="adj" fmla="val 8421"/>
            </a:avLst>
          </a:prstGeom>
          <a:solidFill>
            <a:srgbClr val="0C1F17"/>
          </a:solidFill>
          <a:ln w="9525">
            <a:solidFill>
              <a:srgbClr val="1C3B2C"/>
            </a:solidFill>
            <a:prstDash val="solid"/>
          </a:ln>
        </p:spPr>
      </p:sp>
      <p:sp>
        <p:nvSpPr>
          <p:cNvPr id="30" name="Text 28"/>
          <p:cNvSpPr/>
          <p:nvPr/>
        </p:nvSpPr>
        <p:spPr>
          <a:xfrm>
            <a:off x="7523683" y="5175504"/>
            <a:ext cx="1633118" cy="347472"/>
          </a:xfrm>
          <a:prstGeom prst="rect">
            <a:avLst/>
          </a:prstGeom>
          <a:noFill/>
          <a:ln/>
        </p:spPr>
        <p:txBody>
          <a:bodyPr wrap="square" lIns="0" tIns="0" rIns="0" bIns="0" rtlCol="0" anchor="ctr"/>
          <a:lstStyle/>
          <a:p>
            <a:pPr indent="0" marL="0">
              <a:buNone/>
            </a:pPr>
            <a:r>
              <a:rPr lang="en-US" sz="1800" b="1" dirty="0">
                <a:solidFill>
                  <a:srgbClr val="7CBF3F"/>
                </a:solidFill>
                <a:latin typeface="Arial" pitchFamily="34" charset="0"/>
                <a:ea typeface="Arial" pitchFamily="34" charset="-122"/>
                <a:cs typeface="Arial" pitchFamily="34" charset="-120"/>
              </a:rPr>
              <a:t>10K</a:t>
            </a:r>
            <a:endParaRPr lang="en-US" sz="1800" dirty="0"/>
          </a:p>
        </p:txBody>
      </p:sp>
      <p:sp>
        <p:nvSpPr>
          <p:cNvPr id="31" name="Text 29"/>
          <p:cNvSpPr/>
          <p:nvPr/>
        </p:nvSpPr>
        <p:spPr>
          <a:xfrm>
            <a:off x="7523683" y="5532120"/>
            <a:ext cx="1633118" cy="256032"/>
          </a:xfrm>
          <a:prstGeom prst="rect">
            <a:avLst/>
          </a:prstGeom>
          <a:noFill/>
          <a:ln/>
        </p:spPr>
        <p:txBody>
          <a:bodyPr wrap="square" lIns="0" tIns="0" rIns="0" bIns="0" rtlCol="0" anchor="ctr"/>
          <a:lstStyle/>
          <a:p>
            <a:pPr indent="0" marL="0">
              <a:buNone/>
            </a:pPr>
            <a:r>
              <a:rPr lang="en-US" sz="950" dirty="0">
                <a:solidFill>
                  <a:srgbClr val="9FB3A6"/>
                </a:solidFill>
                <a:latin typeface="Calibri" pitchFamily="34" charset="0"/>
                <a:ea typeface="Calibri" pitchFamily="34" charset="-122"/>
                <a:cs typeface="Calibri" pitchFamily="34" charset="-120"/>
              </a:rPr>
              <a:t>Python</a:t>
            </a:r>
            <a:endParaRPr lang="en-US" sz="950" dirty="0"/>
          </a:p>
        </p:txBody>
      </p:sp>
      <p:sp>
        <p:nvSpPr>
          <p:cNvPr id="32" name="Shape 30"/>
          <p:cNvSpPr/>
          <p:nvPr/>
        </p:nvSpPr>
        <p:spPr>
          <a:xfrm>
            <a:off x="9549994" y="5029200"/>
            <a:ext cx="1998878" cy="868680"/>
          </a:xfrm>
          <a:prstGeom prst="roundRect">
            <a:avLst>
              <a:gd name="adj" fmla="val 8421"/>
            </a:avLst>
          </a:prstGeom>
          <a:solidFill>
            <a:srgbClr val="0C1F17"/>
          </a:solidFill>
          <a:ln w="9525">
            <a:solidFill>
              <a:srgbClr val="1C3B2C"/>
            </a:solidFill>
            <a:prstDash val="solid"/>
          </a:ln>
        </p:spPr>
      </p:sp>
      <p:sp>
        <p:nvSpPr>
          <p:cNvPr id="33" name="Text 31"/>
          <p:cNvSpPr/>
          <p:nvPr/>
        </p:nvSpPr>
        <p:spPr>
          <a:xfrm>
            <a:off x="9751162" y="5175504"/>
            <a:ext cx="1633118" cy="347472"/>
          </a:xfrm>
          <a:prstGeom prst="rect">
            <a:avLst/>
          </a:prstGeom>
          <a:noFill/>
          <a:ln/>
        </p:spPr>
        <p:txBody>
          <a:bodyPr wrap="square" lIns="0" tIns="0" rIns="0" bIns="0" rtlCol="0" anchor="ctr"/>
          <a:lstStyle/>
          <a:p>
            <a:pPr indent="0" marL="0">
              <a:buNone/>
            </a:pPr>
            <a:r>
              <a:rPr lang="en-US" sz="1800" b="1" dirty="0">
                <a:solidFill>
                  <a:srgbClr val="7CBF3F"/>
                </a:solidFill>
                <a:latin typeface="Arial" pitchFamily="34" charset="0"/>
                <a:ea typeface="Arial" pitchFamily="34" charset="-122"/>
                <a:cs typeface="Arial" pitchFamily="34" charset="-120"/>
              </a:rPr>
              <a:t>4.9K</a:t>
            </a:r>
            <a:endParaRPr lang="en-US" sz="1800" dirty="0"/>
          </a:p>
        </p:txBody>
      </p:sp>
      <p:sp>
        <p:nvSpPr>
          <p:cNvPr id="34" name="Text 32"/>
          <p:cNvSpPr/>
          <p:nvPr/>
        </p:nvSpPr>
        <p:spPr>
          <a:xfrm>
            <a:off x="9751162" y="5532120"/>
            <a:ext cx="1633118" cy="256032"/>
          </a:xfrm>
          <a:prstGeom prst="rect">
            <a:avLst/>
          </a:prstGeom>
          <a:noFill/>
          <a:ln/>
        </p:spPr>
        <p:txBody>
          <a:bodyPr wrap="square" lIns="0" tIns="0" rIns="0" bIns="0" rtlCol="0" anchor="ctr"/>
          <a:lstStyle/>
          <a:p>
            <a:pPr indent="0" marL="0">
              <a:buNone/>
            </a:pPr>
            <a:r>
              <a:rPr lang="en-US" sz="950" dirty="0">
                <a:solidFill>
                  <a:srgbClr val="9FB3A6"/>
                </a:solidFill>
                <a:latin typeface="Calibri" pitchFamily="34" charset="0"/>
                <a:ea typeface="Calibri" pitchFamily="34" charset="-122"/>
                <a:cs typeface="Calibri" pitchFamily="34" charset="-120"/>
              </a:rPr>
              <a:t>Swift</a:t>
            </a:r>
            <a:endParaRPr lang="en-US" sz="950" dirty="0"/>
          </a:p>
        </p:txBody>
      </p:sp>
      <p:sp>
        <p:nvSpPr>
          <p:cNvPr id="35" name="Text 33"/>
          <p:cNvSpPr/>
          <p:nvPr/>
        </p:nvSpPr>
        <p:spPr>
          <a:xfrm>
            <a:off x="10881360" y="6172200"/>
            <a:ext cx="667512" cy="237744"/>
          </a:xfrm>
          <a:prstGeom prst="rect">
            <a:avLst/>
          </a:prstGeom>
          <a:noFill/>
          <a:ln/>
        </p:spPr>
        <p:txBody>
          <a:bodyPr wrap="square" lIns="0" tIns="0" rIns="0" bIns="0" rtlCol="0" anchor="ctr"/>
          <a:lstStyle/>
          <a:p>
            <a:pPr algn="r" indent="0" marL="0">
              <a:buNone/>
            </a:pPr>
            <a:r>
              <a:rPr lang="en-US" sz="1000" dirty="0">
                <a:solidFill>
                  <a:srgbClr val="70857A"/>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130E"/>
        </a:solidFill>
      </p:bgPr>
    </p:bg>
    <p:spTree>
      <p:nvGrpSpPr>
        <p:cNvPr id="1" name=""/>
        <p:cNvGrpSpPr/>
        <p:nvPr/>
      </p:nvGrpSpPr>
      <p:grpSpPr>
        <a:xfrm>
          <a:off x="0" y="0"/>
          <a:ext cx="0" cy="0"/>
          <a:chOff x="0" y="0"/>
          <a:chExt cx="0" cy="0"/>
        </a:xfrm>
      </p:grpSpPr>
      <p:sp>
        <p:nvSpPr>
          <p:cNvPr id="2" name="Text 0"/>
          <p:cNvSpPr/>
          <p:nvPr/>
        </p:nvSpPr>
        <p:spPr>
          <a:xfrm>
            <a:off x="640080" y="548640"/>
            <a:ext cx="10908792" cy="640080"/>
          </a:xfrm>
          <a:prstGeom prst="rect">
            <a:avLst/>
          </a:prstGeom>
          <a:noFill/>
          <a:ln/>
        </p:spPr>
        <p:txBody>
          <a:bodyPr wrap="square" lIns="0" tIns="0" rIns="0" bIns="0" rtlCol="0" anchor="ctr"/>
          <a:lstStyle/>
          <a:p>
            <a:pPr indent="0" marL="0">
              <a:buNone/>
            </a:pPr>
            <a:r>
              <a:rPr lang="en-US" sz="3800" b="1" dirty="0">
                <a:solidFill>
                  <a:srgbClr val="F4F7F3"/>
                </a:solidFill>
                <a:latin typeface="Arial" pitchFamily="34" charset="0"/>
                <a:ea typeface="Arial" pitchFamily="34" charset="-122"/>
                <a:cs typeface="Arial" pitchFamily="34" charset="-120"/>
              </a:rPr>
              <a:t>Next</a:t>
            </a:r>
            <a:endParaRPr lang="en-US" sz="3800" dirty="0"/>
          </a:p>
        </p:txBody>
      </p:sp>
      <p:sp>
        <p:nvSpPr>
          <p:cNvPr id="3" name="Text 1"/>
          <p:cNvSpPr/>
          <p:nvPr/>
        </p:nvSpPr>
        <p:spPr>
          <a:xfrm>
            <a:off x="640080" y="1207008"/>
            <a:ext cx="10543032" cy="365760"/>
          </a:xfrm>
          <a:prstGeom prst="rect">
            <a:avLst/>
          </a:prstGeom>
          <a:noFill/>
          <a:ln/>
        </p:spPr>
        <p:txBody>
          <a:bodyPr wrap="square" lIns="0" tIns="0" rIns="0" bIns="0" rtlCol="0" anchor="t"/>
          <a:lstStyle/>
          <a:p>
            <a:pPr indent="0" marL="0">
              <a:buNone/>
            </a:pPr>
            <a:r>
              <a:rPr lang="en-US" sz="1300" dirty="0">
                <a:solidFill>
                  <a:srgbClr val="9FB3A6"/>
                </a:solidFill>
                <a:latin typeface="Calibri" pitchFamily="34" charset="0"/>
                <a:ea typeface="Calibri" pitchFamily="34" charset="-122"/>
                <a:cs typeface="Calibri" pitchFamily="34" charset="-120"/>
              </a:rPr>
              <a:t>Ordered by what unblocks the first paying user.</a:t>
            </a:r>
            <a:endParaRPr lang="en-US" sz="1300" dirty="0"/>
          </a:p>
        </p:txBody>
      </p:sp>
      <p:sp>
        <p:nvSpPr>
          <p:cNvPr id="4" name="Shape 2"/>
          <p:cNvSpPr/>
          <p:nvPr/>
        </p:nvSpPr>
        <p:spPr>
          <a:xfrm>
            <a:off x="640080" y="1737360"/>
            <a:ext cx="10908792" cy="1005840"/>
          </a:xfrm>
          <a:prstGeom prst="roundRect">
            <a:avLst>
              <a:gd name="adj" fmla="val 7273"/>
            </a:avLst>
          </a:prstGeom>
          <a:solidFill>
            <a:srgbClr val="0C1F17"/>
          </a:solidFill>
          <a:ln w="9525">
            <a:solidFill>
              <a:srgbClr val="1C3B2C"/>
            </a:solidFill>
            <a:prstDash val="solid"/>
          </a:ln>
        </p:spPr>
      </p:sp>
      <p:sp>
        <p:nvSpPr>
          <p:cNvPr id="5" name="Text 3"/>
          <p:cNvSpPr/>
          <p:nvPr/>
        </p:nvSpPr>
        <p:spPr>
          <a:xfrm>
            <a:off x="896112" y="2048256"/>
            <a:ext cx="731520" cy="384048"/>
          </a:xfrm>
          <a:prstGeom prst="rect">
            <a:avLst/>
          </a:prstGeom>
          <a:noFill/>
          <a:ln/>
        </p:spPr>
        <p:txBody>
          <a:bodyPr wrap="square" lIns="0" tIns="0" rIns="0" bIns="0" rtlCol="0" anchor="ctr"/>
          <a:lstStyle/>
          <a:p>
            <a:pPr indent="0" marL="0">
              <a:buNone/>
            </a:pPr>
            <a:r>
              <a:rPr lang="en-US" sz="2200" b="1" dirty="0">
                <a:solidFill>
                  <a:srgbClr val="7CBF3F"/>
                </a:solidFill>
                <a:latin typeface="Arial" pitchFamily="34" charset="0"/>
                <a:ea typeface="Arial" pitchFamily="34" charset="-122"/>
                <a:cs typeface="Arial" pitchFamily="34" charset="-120"/>
              </a:rPr>
              <a:t>01</a:t>
            </a:r>
            <a:endParaRPr lang="en-US" sz="2200" dirty="0"/>
          </a:p>
        </p:txBody>
      </p:sp>
      <p:sp>
        <p:nvSpPr>
          <p:cNvPr id="6" name="Text 4"/>
          <p:cNvSpPr/>
          <p:nvPr/>
        </p:nvSpPr>
        <p:spPr>
          <a:xfrm>
            <a:off x="1691640" y="2066544"/>
            <a:ext cx="1554480" cy="347472"/>
          </a:xfrm>
          <a:prstGeom prst="rect">
            <a:avLst/>
          </a:prstGeom>
          <a:noFill/>
          <a:ln/>
        </p:spPr>
        <p:txBody>
          <a:bodyPr wrap="square" lIns="0" tIns="0" rIns="0" bIns="0" rtlCol="0" anchor="ctr"/>
          <a:lstStyle/>
          <a:p>
            <a:pPr indent="0" marL="0">
              <a:buNone/>
            </a:pPr>
            <a:r>
              <a:rPr lang="en-US" sz="1200" b="1" spc="140" kern="0" dirty="0">
                <a:solidFill>
                  <a:srgbClr val="F4F7F3"/>
                </a:solidFill>
                <a:latin typeface="Calibri" pitchFamily="34" charset="0"/>
                <a:ea typeface="Calibri" pitchFamily="34" charset="-122"/>
                <a:cs typeface="Calibri" pitchFamily="34" charset="-120"/>
              </a:rPr>
              <a:t>LAND REVIEW</a:t>
            </a:r>
            <a:endParaRPr lang="en-US" sz="1200" dirty="0"/>
          </a:p>
        </p:txBody>
      </p:sp>
      <p:sp>
        <p:nvSpPr>
          <p:cNvPr id="7" name="Text 5"/>
          <p:cNvSpPr/>
          <p:nvPr/>
        </p:nvSpPr>
        <p:spPr>
          <a:xfrm>
            <a:off x="3017520" y="1901952"/>
            <a:ext cx="8183880" cy="694944"/>
          </a:xfrm>
          <a:prstGeom prst="rect">
            <a:avLst/>
          </a:prstGeom>
          <a:noFill/>
          <a:ln/>
        </p:spPr>
        <p:txBody>
          <a:bodyPr wrap="square" lIns="0" tIns="0" rIns="0" bIns="0" rtlCol="0" anchor="ctr"/>
          <a:lstStyle/>
          <a:p>
            <a:pPr indent="0" marL="0">
              <a:lnSpc>
                <a:spcPts val="1500"/>
              </a:lnSpc>
              <a:buNone/>
            </a:pPr>
            <a:r>
              <a:rPr lang="en-US" sz="1100" dirty="0">
                <a:solidFill>
                  <a:srgbClr val="9FB3A6"/>
                </a:solidFill>
                <a:latin typeface="Calibri" pitchFamily="34" charset="0"/>
                <a:ea typeface="Calibri" pitchFamily="34" charset="-122"/>
                <a:cs typeface="Calibri" pitchFamily="34" charset="-120"/>
              </a:rPr>
              <a:t>The submission is in and the expedite request is filed. Answer App Review the hour they write, and have the corrected photo-string build ready the moment the EAS quota resets on 1 September.</a:t>
            </a:r>
            <a:endParaRPr lang="en-US" sz="1100" dirty="0"/>
          </a:p>
        </p:txBody>
      </p:sp>
      <p:sp>
        <p:nvSpPr>
          <p:cNvPr id="8" name="Shape 6"/>
          <p:cNvSpPr/>
          <p:nvPr/>
        </p:nvSpPr>
        <p:spPr>
          <a:xfrm>
            <a:off x="640080" y="2788920"/>
            <a:ext cx="10908792" cy="1005840"/>
          </a:xfrm>
          <a:prstGeom prst="roundRect">
            <a:avLst>
              <a:gd name="adj" fmla="val 7273"/>
            </a:avLst>
          </a:prstGeom>
          <a:solidFill>
            <a:srgbClr val="0C1F17"/>
          </a:solidFill>
          <a:ln w="9525">
            <a:solidFill>
              <a:srgbClr val="1C3B2C"/>
            </a:solidFill>
            <a:prstDash val="solid"/>
          </a:ln>
        </p:spPr>
      </p:sp>
      <p:sp>
        <p:nvSpPr>
          <p:cNvPr id="9" name="Text 7"/>
          <p:cNvSpPr/>
          <p:nvPr/>
        </p:nvSpPr>
        <p:spPr>
          <a:xfrm>
            <a:off x="896112" y="3099816"/>
            <a:ext cx="731520" cy="384048"/>
          </a:xfrm>
          <a:prstGeom prst="rect">
            <a:avLst/>
          </a:prstGeom>
          <a:noFill/>
          <a:ln/>
        </p:spPr>
        <p:txBody>
          <a:bodyPr wrap="square" lIns="0" tIns="0" rIns="0" bIns="0" rtlCol="0" anchor="ctr"/>
          <a:lstStyle/>
          <a:p>
            <a:pPr indent="0" marL="0">
              <a:buNone/>
            </a:pPr>
            <a:r>
              <a:rPr lang="en-US" sz="2200" b="1" dirty="0">
                <a:solidFill>
                  <a:srgbClr val="7CBF3F"/>
                </a:solidFill>
                <a:latin typeface="Arial" pitchFamily="34" charset="0"/>
                <a:ea typeface="Arial" pitchFamily="34" charset="-122"/>
                <a:cs typeface="Arial" pitchFamily="34" charset="-120"/>
              </a:rPr>
              <a:t>02</a:t>
            </a:r>
            <a:endParaRPr lang="en-US" sz="2200" dirty="0"/>
          </a:p>
        </p:txBody>
      </p:sp>
      <p:sp>
        <p:nvSpPr>
          <p:cNvPr id="10" name="Text 8"/>
          <p:cNvSpPr/>
          <p:nvPr/>
        </p:nvSpPr>
        <p:spPr>
          <a:xfrm>
            <a:off x="1691640" y="3118104"/>
            <a:ext cx="1554480" cy="347472"/>
          </a:xfrm>
          <a:prstGeom prst="rect">
            <a:avLst/>
          </a:prstGeom>
          <a:noFill/>
          <a:ln/>
        </p:spPr>
        <p:txBody>
          <a:bodyPr wrap="square" lIns="0" tIns="0" rIns="0" bIns="0" rtlCol="0" anchor="ctr"/>
          <a:lstStyle/>
          <a:p>
            <a:pPr indent="0" marL="0">
              <a:buNone/>
            </a:pPr>
            <a:r>
              <a:rPr lang="en-US" sz="1200" b="1" spc="140" kern="0" dirty="0">
                <a:solidFill>
                  <a:srgbClr val="F4F7F3"/>
                </a:solidFill>
                <a:latin typeface="Calibri" pitchFamily="34" charset="0"/>
                <a:ea typeface="Calibri" pitchFamily="34" charset="-122"/>
                <a:cs typeface="Calibri" pitchFamily="34" charset="-120"/>
              </a:rPr>
              <a:t>HARDEN</a:t>
            </a:r>
            <a:endParaRPr lang="en-US" sz="1200" dirty="0"/>
          </a:p>
        </p:txBody>
      </p:sp>
      <p:sp>
        <p:nvSpPr>
          <p:cNvPr id="11" name="Text 9"/>
          <p:cNvSpPr/>
          <p:nvPr/>
        </p:nvSpPr>
        <p:spPr>
          <a:xfrm>
            <a:off x="3017520" y="2953512"/>
            <a:ext cx="8183880" cy="694944"/>
          </a:xfrm>
          <a:prstGeom prst="rect">
            <a:avLst/>
          </a:prstGeom>
          <a:noFill/>
          <a:ln/>
        </p:spPr>
        <p:txBody>
          <a:bodyPr wrap="square" lIns="0" tIns="0" rIns="0" bIns="0" rtlCol="0" anchor="ctr"/>
          <a:lstStyle/>
          <a:p>
            <a:pPr indent="0" marL="0">
              <a:lnSpc>
                <a:spcPts val="1500"/>
              </a:lnSpc>
              <a:buNone/>
            </a:pPr>
            <a:r>
              <a:rPr lang="en-US" sz="1100" dirty="0">
                <a:solidFill>
                  <a:srgbClr val="9FB3A6"/>
                </a:solidFill>
                <a:latin typeface="Calibri" pitchFamily="34" charset="0"/>
                <a:ea typeface="Calibri" pitchFamily="34" charset="-122"/>
                <a:cs typeface="Calibri" pitchFamily="34" charset="-120"/>
              </a:rPr>
              <a:t>Rotate the Stripe and Supabase keys out of sandbox, turn on the signed Stripe webhook, fix Apple sign-in on the web (native iOS only today), and re-enable email confirmation before launch.</a:t>
            </a:r>
            <a:endParaRPr lang="en-US" sz="1100" dirty="0"/>
          </a:p>
        </p:txBody>
      </p:sp>
      <p:sp>
        <p:nvSpPr>
          <p:cNvPr id="12" name="Shape 10"/>
          <p:cNvSpPr/>
          <p:nvPr/>
        </p:nvSpPr>
        <p:spPr>
          <a:xfrm>
            <a:off x="640080" y="3840480"/>
            <a:ext cx="10908792" cy="1005840"/>
          </a:xfrm>
          <a:prstGeom prst="roundRect">
            <a:avLst>
              <a:gd name="adj" fmla="val 7273"/>
            </a:avLst>
          </a:prstGeom>
          <a:solidFill>
            <a:srgbClr val="0C1F17"/>
          </a:solidFill>
          <a:ln w="9525">
            <a:solidFill>
              <a:srgbClr val="1C3B2C"/>
            </a:solidFill>
            <a:prstDash val="solid"/>
          </a:ln>
        </p:spPr>
      </p:sp>
      <p:sp>
        <p:nvSpPr>
          <p:cNvPr id="13" name="Text 11"/>
          <p:cNvSpPr/>
          <p:nvPr/>
        </p:nvSpPr>
        <p:spPr>
          <a:xfrm>
            <a:off x="896112" y="4151376"/>
            <a:ext cx="731520" cy="384048"/>
          </a:xfrm>
          <a:prstGeom prst="rect">
            <a:avLst/>
          </a:prstGeom>
          <a:noFill/>
          <a:ln/>
        </p:spPr>
        <p:txBody>
          <a:bodyPr wrap="square" lIns="0" tIns="0" rIns="0" bIns="0" rtlCol="0" anchor="ctr"/>
          <a:lstStyle/>
          <a:p>
            <a:pPr indent="0" marL="0">
              <a:buNone/>
            </a:pPr>
            <a:r>
              <a:rPr lang="en-US" sz="2200" b="1" dirty="0">
                <a:solidFill>
                  <a:srgbClr val="7CBF3F"/>
                </a:solidFill>
                <a:latin typeface="Arial" pitchFamily="34" charset="0"/>
                <a:ea typeface="Arial" pitchFamily="34" charset="-122"/>
                <a:cs typeface="Arial" pitchFamily="34" charset="-120"/>
              </a:rPr>
              <a:t>03</a:t>
            </a:r>
            <a:endParaRPr lang="en-US" sz="2200" dirty="0"/>
          </a:p>
        </p:txBody>
      </p:sp>
      <p:sp>
        <p:nvSpPr>
          <p:cNvPr id="14" name="Text 12"/>
          <p:cNvSpPr/>
          <p:nvPr/>
        </p:nvSpPr>
        <p:spPr>
          <a:xfrm>
            <a:off x="1691640" y="4169664"/>
            <a:ext cx="1554480" cy="347472"/>
          </a:xfrm>
          <a:prstGeom prst="rect">
            <a:avLst/>
          </a:prstGeom>
          <a:noFill/>
          <a:ln/>
        </p:spPr>
        <p:txBody>
          <a:bodyPr wrap="square" lIns="0" tIns="0" rIns="0" bIns="0" rtlCol="0" anchor="ctr"/>
          <a:lstStyle/>
          <a:p>
            <a:pPr indent="0" marL="0">
              <a:buNone/>
            </a:pPr>
            <a:r>
              <a:rPr lang="en-US" sz="1200" b="1" spc="140" kern="0" dirty="0">
                <a:solidFill>
                  <a:srgbClr val="F4F7F3"/>
                </a:solidFill>
                <a:latin typeface="Calibri" pitchFamily="34" charset="0"/>
                <a:ea typeface="Calibri" pitchFamily="34" charset="-122"/>
                <a:cs typeface="Calibri" pitchFamily="34" charset="-120"/>
              </a:rPr>
              <a:t>PROVE</a:t>
            </a:r>
            <a:endParaRPr lang="en-US" sz="1200" dirty="0"/>
          </a:p>
        </p:txBody>
      </p:sp>
      <p:sp>
        <p:nvSpPr>
          <p:cNvPr id="15" name="Text 13"/>
          <p:cNvSpPr/>
          <p:nvPr/>
        </p:nvSpPr>
        <p:spPr>
          <a:xfrm>
            <a:off x="3017520" y="4005072"/>
            <a:ext cx="8183880" cy="694944"/>
          </a:xfrm>
          <a:prstGeom prst="rect">
            <a:avLst/>
          </a:prstGeom>
          <a:noFill/>
          <a:ln/>
        </p:spPr>
        <p:txBody>
          <a:bodyPr wrap="square" lIns="0" tIns="0" rIns="0" bIns="0" rtlCol="0" anchor="ctr"/>
          <a:lstStyle/>
          <a:p>
            <a:pPr indent="0" marL="0">
              <a:lnSpc>
                <a:spcPts val="1500"/>
              </a:lnSpc>
              <a:buNone/>
            </a:pPr>
            <a:r>
              <a:rPr lang="en-US" sz="1100" dirty="0">
                <a:solidFill>
                  <a:srgbClr val="9FB3A6"/>
                </a:solidFill>
                <a:latin typeface="Calibri" pitchFamily="34" charset="0"/>
                <a:ea typeface="Calibri" pitchFamily="34" charset="-122"/>
                <a:cs typeface="Calibri" pitchFamily="34" charset="-120"/>
              </a:rPr>
              <a:t>Film one club box-league match end to end and analyse it — the first proof outside archive footage — then work the waitlist and the Dixie conversation off the back of it.</a:t>
            </a:r>
            <a:endParaRPr lang="en-US" sz="1100" dirty="0"/>
          </a:p>
        </p:txBody>
      </p:sp>
      <p:sp>
        <p:nvSpPr>
          <p:cNvPr id="16" name="Shape 14"/>
          <p:cNvSpPr/>
          <p:nvPr/>
        </p:nvSpPr>
        <p:spPr>
          <a:xfrm>
            <a:off x="640080" y="4892040"/>
            <a:ext cx="10908792" cy="1005840"/>
          </a:xfrm>
          <a:prstGeom prst="roundRect">
            <a:avLst>
              <a:gd name="adj" fmla="val 7273"/>
            </a:avLst>
          </a:prstGeom>
          <a:solidFill>
            <a:srgbClr val="0C1F17"/>
          </a:solidFill>
          <a:ln w="9525">
            <a:solidFill>
              <a:srgbClr val="1C3B2C"/>
            </a:solidFill>
            <a:prstDash val="solid"/>
          </a:ln>
        </p:spPr>
      </p:sp>
      <p:sp>
        <p:nvSpPr>
          <p:cNvPr id="17" name="Text 15"/>
          <p:cNvSpPr/>
          <p:nvPr/>
        </p:nvSpPr>
        <p:spPr>
          <a:xfrm>
            <a:off x="896112" y="5202936"/>
            <a:ext cx="731520" cy="384048"/>
          </a:xfrm>
          <a:prstGeom prst="rect">
            <a:avLst/>
          </a:prstGeom>
          <a:noFill/>
          <a:ln/>
        </p:spPr>
        <p:txBody>
          <a:bodyPr wrap="square" lIns="0" tIns="0" rIns="0" bIns="0" rtlCol="0" anchor="ctr"/>
          <a:lstStyle/>
          <a:p>
            <a:pPr indent="0" marL="0">
              <a:buNone/>
            </a:pPr>
            <a:r>
              <a:rPr lang="en-US" sz="2200" b="1" dirty="0">
                <a:solidFill>
                  <a:srgbClr val="7CBF3F"/>
                </a:solidFill>
                <a:latin typeface="Arial" pitchFamily="34" charset="0"/>
                <a:ea typeface="Arial" pitchFamily="34" charset="-122"/>
                <a:cs typeface="Arial" pitchFamily="34" charset="-120"/>
              </a:rPr>
              <a:t>04</a:t>
            </a:r>
            <a:endParaRPr lang="en-US" sz="2200" dirty="0"/>
          </a:p>
        </p:txBody>
      </p:sp>
      <p:sp>
        <p:nvSpPr>
          <p:cNvPr id="18" name="Text 16"/>
          <p:cNvSpPr/>
          <p:nvPr/>
        </p:nvSpPr>
        <p:spPr>
          <a:xfrm>
            <a:off x="1691640" y="5221224"/>
            <a:ext cx="1554480" cy="347472"/>
          </a:xfrm>
          <a:prstGeom prst="rect">
            <a:avLst/>
          </a:prstGeom>
          <a:noFill/>
          <a:ln/>
        </p:spPr>
        <p:txBody>
          <a:bodyPr wrap="square" lIns="0" tIns="0" rIns="0" bIns="0" rtlCol="0" anchor="ctr"/>
          <a:lstStyle/>
          <a:p>
            <a:pPr indent="0" marL="0">
              <a:buNone/>
            </a:pPr>
            <a:r>
              <a:rPr lang="en-US" sz="1200" b="1" spc="140" kern="0" dirty="0">
                <a:solidFill>
                  <a:srgbClr val="F4F7F3"/>
                </a:solidFill>
                <a:latin typeface="Calibri" pitchFamily="34" charset="0"/>
                <a:ea typeface="Calibri" pitchFamily="34" charset="-122"/>
                <a:cs typeface="Calibri" pitchFamily="34" charset="-120"/>
              </a:rPr>
              <a:t>SHARPEN</a:t>
            </a:r>
            <a:endParaRPr lang="en-US" sz="1200" dirty="0"/>
          </a:p>
        </p:txBody>
      </p:sp>
      <p:sp>
        <p:nvSpPr>
          <p:cNvPr id="19" name="Text 17"/>
          <p:cNvSpPr/>
          <p:nvPr/>
        </p:nvSpPr>
        <p:spPr>
          <a:xfrm>
            <a:off x="3017520" y="5056632"/>
            <a:ext cx="8183880" cy="694944"/>
          </a:xfrm>
          <a:prstGeom prst="rect">
            <a:avLst/>
          </a:prstGeom>
          <a:noFill/>
          <a:ln/>
        </p:spPr>
        <p:txBody>
          <a:bodyPr wrap="square" lIns="0" tIns="0" rIns="0" bIns="0" rtlCol="0" anchor="ctr"/>
          <a:lstStyle/>
          <a:p>
            <a:pPr indent="0" marL="0">
              <a:lnSpc>
                <a:spcPts val="1500"/>
              </a:lnSpc>
              <a:buNone/>
            </a:pPr>
            <a:r>
              <a:rPr lang="en-US" sz="1100" dirty="0">
                <a:solidFill>
                  <a:srgbClr val="9FB3A6"/>
                </a:solidFill>
                <a:latin typeface="Calibri" pitchFamily="34" charset="0"/>
                <a:ea typeface="Calibri" pitchFamily="34" charset="-122"/>
                <a:cs typeface="Calibri" pitchFamily="34" charset="-120"/>
              </a:rPr>
              <a:t>Raise last-striker attribution: 72.7% is the ceiling on the referee today, and everything the referee claims is capped by it. Ball tracking stays shelved until the camera changes.</a:t>
            </a:r>
            <a:endParaRPr lang="en-US" sz="1100" dirty="0"/>
          </a:p>
        </p:txBody>
      </p:sp>
      <p:sp>
        <p:nvSpPr>
          <p:cNvPr id="20" name="Text 18"/>
          <p:cNvSpPr/>
          <p:nvPr/>
        </p:nvSpPr>
        <p:spPr>
          <a:xfrm>
            <a:off x="10881360" y="6172200"/>
            <a:ext cx="667512" cy="237744"/>
          </a:xfrm>
          <a:prstGeom prst="rect">
            <a:avLst/>
          </a:prstGeom>
          <a:noFill/>
          <a:ln/>
        </p:spPr>
        <p:txBody>
          <a:bodyPr wrap="square" lIns="0" tIns="0" rIns="0" bIns="0" rtlCol="0" anchor="ctr"/>
          <a:lstStyle/>
          <a:p>
            <a:pPr algn="r" indent="0" marL="0">
              <a:buNone/>
            </a:pPr>
            <a:r>
              <a:rPr lang="en-US" sz="1000" dirty="0">
                <a:solidFill>
                  <a:srgbClr val="70857A"/>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RacketIQ — Week in Review</dc:title>
  <dc:subject>PptxGenJS Presentation</dc:subject>
  <dc:creator>Karan</dc:creator>
  <cp:lastModifiedBy>Karan</cp:lastModifiedBy>
  <cp:revision>1</cp:revision>
  <dcterms:created xsi:type="dcterms:W3CDTF">2026-08-21T21:24:10Z</dcterms:created>
  <dcterms:modified xsi:type="dcterms:W3CDTF">2026-08-21T21:24:10Z</dcterms:modified>
</cp:coreProperties>
</file>